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5"/>
  </p:notesMasterIdLst>
  <p:sldIdLst>
    <p:sldId id="256" r:id="rId2"/>
    <p:sldId id="258" r:id="rId3"/>
    <p:sldId id="259" r:id="rId4"/>
    <p:sldId id="260" r:id="rId5"/>
    <p:sldId id="261" r:id="rId6"/>
    <p:sldId id="264" r:id="rId7"/>
    <p:sldId id="262"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5" r:id="rId37"/>
    <p:sldId id="296" r:id="rId38"/>
    <p:sldId id="297" r:id="rId39"/>
    <p:sldId id="298" r:id="rId40"/>
    <p:sldId id="299" r:id="rId41"/>
    <p:sldId id="300" r:id="rId42"/>
    <p:sldId id="301" r:id="rId43"/>
    <p:sldId id="303"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90" y="-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44CC00-742D-4BF6-92D9-57299D68E760}" type="datetimeFigureOut">
              <a:rPr lang="en-IN" smtClean="0"/>
              <a:t>20-02-2026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0F0FE8-05AB-4436-A628-9127E1C1AA6C}" type="slidenum">
              <a:rPr lang="en-IN" smtClean="0"/>
              <a:t>‹#›</a:t>
            </a:fld>
            <a:endParaRPr lang="en-IN"/>
          </a:p>
        </p:txBody>
      </p:sp>
    </p:spTree>
    <p:extLst>
      <p:ext uri="{BB962C8B-B14F-4D97-AF65-F5344CB8AC3E}">
        <p14:creationId xmlns:p14="http://schemas.microsoft.com/office/powerpoint/2010/main" val="49015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60F0FE8-05AB-4436-A628-9127E1C1AA6C}" type="slidenum">
              <a:rPr lang="en-IN" smtClean="0"/>
              <a:t>17</a:t>
            </a:fld>
            <a:endParaRPr lang="en-IN"/>
          </a:p>
        </p:txBody>
      </p:sp>
    </p:spTree>
    <p:extLst>
      <p:ext uri="{BB962C8B-B14F-4D97-AF65-F5344CB8AC3E}">
        <p14:creationId xmlns:p14="http://schemas.microsoft.com/office/powerpoint/2010/main" val="33829007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2/19/2026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2/19/2026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2/19/2026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2/19/2026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2/19/2026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2/19/2026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2/19/2026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2/19/2026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2/19/2026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9AF32-7E0D-111B-B744-D8DA36861329}"/>
              </a:ext>
            </a:extLst>
          </p:cNvPr>
          <p:cNvSpPr>
            <a:spLocks noGrp="1"/>
          </p:cNvSpPr>
          <p:nvPr>
            <p:ph type="ctrTitle"/>
          </p:nvPr>
        </p:nvSpPr>
        <p:spPr/>
        <p:txBody>
          <a:bodyPr/>
          <a:lstStyle/>
          <a:p>
            <a:r>
              <a:rPr lang="en-IN" b="1" dirty="0">
                <a:solidFill>
                  <a:schemeClr val="bg2">
                    <a:lumMod val="25000"/>
                  </a:schemeClr>
                </a:solidFill>
              </a:rPr>
              <a:t>Information Technology </a:t>
            </a:r>
          </a:p>
        </p:txBody>
      </p:sp>
      <p:sp>
        <p:nvSpPr>
          <p:cNvPr id="3" name="Subtitle 2">
            <a:extLst>
              <a:ext uri="{FF2B5EF4-FFF2-40B4-BE49-F238E27FC236}">
                <a16:creationId xmlns:a16="http://schemas.microsoft.com/office/drawing/2014/main" id="{25A8896B-EE7E-274C-5198-A0BFCC479F6C}"/>
              </a:ext>
            </a:extLst>
          </p:cNvPr>
          <p:cNvSpPr>
            <a:spLocks noGrp="1"/>
          </p:cNvSpPr>
          <p:nvPr>
            <p:ph type="subTitle" idx="1"/>
          </p:nvPr>
        </p:nvSpPr>
        <p:spPr/>
        <p:txBody>
          <a:bodyPr/>
          <a:lstStyle/>
          <a:p>
            <a:r>
              <a:rPr lang="en-IN" dirty="0"/>
              <a:t> </a:t>
            </a:r>
          </a:p>
          <a:p>
            <a:endParaRPr lang="en-IN" dirty="0"/>
          </a:p>
        </p:txBody>
      </p:sp>
    </p:spTree>
    <p:extLst>
      <p:ext uri="{BB962C8B-B14F-4D97-AF65-F5344CB8AC3E}">
        <p14:creationId xmlns:p14="http://schemas.microsoft.com/office/powerpoint/2010/main" val="1450485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01E45-5398-BB1E-AA0D-3475C2CE0166}"/>
              </a:ext>
            </a:extLst>
          </p:cNvPr>
          <p:cNvSpPr>
            <a:spLocks noGrp="1"/>
          </p:cNvSpPr>
          <p:nvPr>
            <p:ph type="title"/>
          </p:nvPr>
        </p:nvSpPr>
        <p:spPr/>
        <p:txBody>
          <a:bodyPr/>
          <a:lstStyle/>
          <a:p>
            <a:r>
              <a:rPr lang="en-US" dirty="0"/>
              <a:t>Introduction to Information Technology </a:t>
            </a:r>
            <a:br>
              <a:rPr lang="en-US" dirty="0"/>
            </a:br>
            <a:endParaRPr lang="en-IN" dirty="0"/>
          </a:p>
        </p:txBody>
      </p:sp>
      <p:sp>
        <p:nvSpPr>
          <p:cNvPr id="3" name="TextBox 2">
            <a:extLst>
              <a:ext uri="{FF2B5EF4-FFF2-40B4-BE49-F238E27FC236}">
                <a16:creationId xmlns:a16="http://schemas.microsoft.com/office/drawing/2014/main" id="{B5DB9AD1-11C1-CEE8-82A5-A29386B0683B}"/>
              </a:ext>
            </a:extLst>
          </p:cNvPr>
          <p:cNvSpPr txBox="1"/>
          <p:nvPr/>
        </p:nvSpPr>
        <p:spPr>
          <a:xfrm>
            <a:off x="1334848" y="2033081"/>
            <a:ext cx="5571790" cy="3970318"/>
          </a:xfrm>
          <a:prstGeom prst="rect">
            <a:avLst/>
          </a:prstGeom>
          <a:noFill/>
        </p:spPr>
        <p:txBody>
          <a:bodyPr wrap="square" rtlCol="0">
            <a:spAutoFit/>
          </a:bodyPr>
          <a:lstStyle/>
          <a:p>
            <a:r>
              <a:rPr lang="en-IN" b="1" dirty="0"/>
              <a:t>WHAT IS IT ?</a:t>
            </a:r>
          </a:p>
          <a:p>
            <a:endParaRPr lang="en-IN" b="1" dirty="0"/>
          </a:p>
          <a:p>
            <a:r>
              <a:rPr lang="en-US" dirty="0"/>
              <a:t>Information Technology (IT) refers to the use of computers, software, networks, and databases to manage, process, and distribute information.</a:t>
            </a:r>
          </a:p>
          <a:p>
            <a:endParaRPr lang="en-US" dirty="0"/>
          </a:p>
          <a:p>
            <a:r>
              <a:rPr lang="en-US" b="1" dirty="0"/>
              <a:t>Core Components of IT:</a:t>
            </a:r>
          </a:p>
          <a:p>
            <a:endParaRPr lang="en-US" dirty="0"/>
          </a:p>
          <a:p>
            <a:pPr marL="285750" indent="-285750">
              <a:buFont typeface="Arial" panose="020B0604020202020204" pitchFamily="34" charset="0"/>
              <a:buChar char="•"/>
            </a:pPr>
            <a:r>
              <a:rPr lang="en-US" dirty="0"/>
              <a:t>Hardware (Computers, Servers, Storage Devices)</a:t>
            </a:r>
          </a:p>
          <a:p>
            <a:pPr marL="285750" indent="-285750">
              <a:buFont typeface="Arial" panose="020B0604020202020204" pitchFamily="34" charset="0"/>
              <a:buChar char="•"/>
            </a:pPr>
            <a:r>
              <a:rPr lang="en-US" dirty="0"/>
              <a:t>Software (Applications, Operating Systems)</a:t>
            </a:r>
          </a:p>
          <a:p>
            <a:pPr marL="285750" indent="-285750">
              <a:buFont typeface="Arial" panose="020B0604020202020204" pitchFamily="34" charset="0"/>
              <a:buChar char="•"/>
            </a:pPr>
            <a:r>
              <a:rPr lang="en-US" dirty="0"/>
              <a:t>Networks (LAN, WAN, Internet)</a:t>
            </a:r>
          </a:p>
          <a:p>
            <a:pPr marL="285750" indent="-285750">
              <a:buFont typeface="Arial" panose="020B0604020202020204" pitchFamily="34" charset="0"/>
              <a:buChar char="•"/>
            </a:pPr>
            <a:r>
              <a:rPr lang="en-US" dirty="0"/>
              <a:t>Data</a:t>
            </a:r>
          </a:p>
          <a:p>
            <a:pPr marL="285750" indent="-285750">
              <a:buFont typeface="Arial" panose="020B0604020202020204" pitchFamily="34" charset="0"/>
              <a:buChar char="•"/>
            </a:pPr>
            <a:r>
              <a:rPr lang="en-US" dirty="0"/>
              <a:t>People and processes</a:t>
            </a:r>
          </a:p>
          <a:p>
            <a:endParaRPr lang="en-IN" dirty="0"/>
          </a:p>
        </p:txBody>
      </p:sp>
      <p:sp>
        <p:nvSpPr>
          <p:cNvPr id="4" name="TextBox 3">
            <a:extLst>
              <a:ext uri="{FF2B5EF4-FFF2-40B4-BE49-F238E27FC236}">
                <a16:creationId xmlns:a16="http://schemas.microsoft.com/office/drawing/2014/main" id="{4869EA5B-F930-4398-FEFC-A2658384FC89}"/>
              </a:ext>
            </a:extLst>
          </p:cNvPr>
          <p:cNvSpPr txBox="1"/>
          <p:nvPr/>
        </p:nvSpPr>
        <p:spPr>
          <a:xfrm>
            <a:off x="7344383" y="2169268"/>
            <a:ext cx="3578993" cy="2031325"/>
          </a:xfrm>
          <a:prstGeom prst="rect">
            <a:avLst/>
          </a:prstGeom>
          <a:noFill/>
        </p:spPr>
        <p:txBody>
          <a:bodyPr wrap="none" rtlCol="0">
            <a:spAutoFit/>
          </a:bodyPr>
          <a:lstStyle/>
          <a:p>
            <a:r>
              <a:rPr lang="en-US" b="1" dirty="0"/>
              <a:t>Purpose of IT:</a:t>
            </a:r>
          </a:p>
          <a:p>
            <a:endParaRPr lang="en-US" dirty="0"/>
          </a:p>
          <a:p>
            <a:pPr marL="285750" indent="-285750">
              <a:buFont typeface="Arial" panose="020B0604020202020204" pitchFamily="34" charset="0"/>
              <a:buChar char="•"/>
            </a:pPr>
            <a:r>
              <a:rPr lang="en-US" dirty="0"/>
              <a:t>Improve efficiency</a:t>
            </a:r>
          </a:p>
          <a:p>
            <a:pPr marL="285750" indent="-285750">
              <a:buFont typeface="Arial" panose="020B0604020202020204" pitchFamily="34" charset="0"/>
              <a:buChar char="•"/>
            </a:pPr>
            <a:r>
              <a:rPr lang="en-US" dirty="0"/>
              <a:t>Enable communication</a:t>
            </a:r>
          </a:p>
          <a:p>
            <a:pPr marL="285750" indent="-285750">
              <a:buFont typeface="Arial" panose="020B0604020202020204" pitchFamily="34" charset="0"/>
              <a:buChar char="•"/>
            </a:pPr>
            <a:r>
              <a:rPr lang="en-US" dirty="0"/>
              <a:t>Support data storage and analysis</a:t>
            </a:r>
          </a:p>
          <a:p>
            <a:pPr marL="285750" indent="-285750">
              <a:buFont typeface="Arial" panose="020B0604020202020204" pitchFamily="34" charset="0"/>
              <a:buChar char="•"/>
            </a:pPr>
            <a:r>
              <a:rPr lang="en-US" dirty="0"/>
              <a:t>Automate business processes</a:t>
            </a:r>
          </a:p>
          <a:p>
            <a:endParaRPr lang="en-IN" dirty="0"/>
          </a:p>
        </p:txBody>
      </p:sp>
    </p:spTree>
    <p:extLst>
      <p:ext uri="{BB962C8B-B14F-4D97-AF65-F5344CB8AC3E}">
        <p14:creationId xmlns:p14="http://schemas.microsoft.com/office/powerpoint/2010/main" val="38619038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5E53-7F51-E901-5CBF-2FDFE8EA4A3E}"/>
              </a:ext>
            </a:extLst>
          </p:cNvPr>
          <p:cNvSpPr>
            <a:spLocks noGrp="1"/>
          </p:cNvSpPr>
          <p:nvPr>
            <p:ph type="title"/>
          </p:nvPr>
        </p:nvSpPr>
        <p:spPr/>
        <p:txBody>
          <a:bodyPr/>
          <a:lstStyle/>
          <a:p>
            <a:r>
              <a:rPr lang="en-IN" dirty="0"/>
              <a:t>Fundamentals of Information Technology</a:t>
            </a:r>
          </a:p>
        </p:txBody>
      </p:sp>
      <p:sp>
        <p:nvSpPr>
          <p:cNvPr id="3" name="TextBox 2">
            <a:extLst>
              <a:ext uri="{FF2B5EF4-FFF2-40B4-BE49-F238E27FC236}">
                <a16:creationId xmlns:a16="http://schemas.microsoft.com/office/drawing/2014/main" id="{C531A467-0AD9-92F7-0462-D9B21FD803EB}"/>
              </a:ext>
            </a:extLst>
          </p:cNvPr>
          <p:cNvSpPr txBox="1"/>
          <p:nvPr/>
        </p:nvSpPr>
        <p:spPr>
          <a:xfrm>
            <a:off x="1451580" y="2315182"/>
            <a:ext cx="3918088" cy="3170099"/>
          </a:xfrm>
          <a:prstGeom prst="rect">
            <a:avLst/>
          </a:prstGeom>
          <a:noFill/>
        </p:spPr>
        <p:txBody>
          <a:bodyPr wrap="square" rtlCol="0">
            <a:spAutoFit/>
          </a:bodyPr>
          <a:lstStyle/>
          <a:p>
            <a:r>
              <a:rPr lang="en-IN" sz="2000" b="1" dirty="0"/>
              <a:t>IT Key Concepts:</a:t>
            </a:r>
          </a:p>
          <a:p>
            <a:endParaRPr lang="en-IN" sz="2000" dirty="0"/>
          </a:p>
          <a:p>
            <a:pPr marL="285750" indent="-285750">
              <a:buFont typeface="Arial" panose="020B0604020202020204" pitchFamily="34" charset="0"/>
              <a:buChar char="•"/>
            </a:pPr>
            <a:r>
              <a:rPr lang="en-IN" sz="2000" dirty="0"/>
              <a:t>Data Processing</a:t>
            </a:r>
          </a:p>
          <a:p>
            <a:pPr marL="285750" indent="-285750">
              <a:buFont typeface="Arial" panose="020B0604020202020204" pitchFamily="34" charset="0"/>
              <a:buChar char="•"/>
            </a:pPr>
            <a:r>
              <a:rPr lang="en-IN" sz="2000" dirty="0"/>
              <a:t>Cloud Computing</a:t>
            </a:r>
          </a:p>
          <a:p>
            <a:pPr marL="285750" indent="-285750">
              <a:buFont typeface="Arial" panose="020B0604020202020204" pitchFamily="34" charset="0"/>
              <a:buChar char="•"/>
            </a:pPr>
            <a:r>
              <a:rPr lang="en-IN" sz="2000" dirty="0"/>
              <a:t>Networking</a:t>
            </a:r>
          </a:p>
          <a:p>
            <a:pPr marL="285750" indent="-285750">
              <a:buFont typeface="Arial" panose="020B0604020202020204" pitchFamily="34" charset="0"/>
              <a:buChar char="•"/>
            </a:pPr>
            <a:r>
              <a:rPr lang="en-IN" sz="2000" dirty="0"/>
              <a:t>Cybersecurity</a:t>
            </a:r>
          </a:p>
          <a:p>
            <a:pPr marL="285750" indent="-285750">
              <a:buFont typeface="Arial" panose="020B0604020202020204" pitchFamily="34" charset="0"/>
              <a:buChar char="•"/>
            </a:pPr>
            <a:r>
              <a:rPr lang="en-IN" sz="2000" dirty="0"/>
              <a:t>Database Management</a:t>
            </a:r>
          </a:p>
          <a:p>
            <a:pPr marL="285750" indent="-285750">
              <a:buFont typeface="Arial" panose="020B0604020202020204" pitchFamily="34" charset="0"/>
              <a:buChar char="•"/>
            </a:pPr>
            <a:r>
              <a:rPr lang="en-IN" sz="2000" dirty="0"/>
              <a:t>Artificial Intelligence &amp; Machine Learning</a:t>
            </a:r>
          </a:p>
          <a:p>
            <a:endParaRPr lang="en-IN" sz="2000" dirty="0"/>
          </a:p>
        </p:txBody>
      </p:sp>
      <p:sp>
        <p:nvSpPr>
          <p:cNvPr id="5" name="TextBox 4">
            <a:extLst>
              <a:ext uri="{FF2B5EF4-FFF2-40B4-BE49-F238E27FC236}">
                <a16:creationId xmlns:a16="http://schemas.microsoft.com/office/drawing/2014/main" id="{2455E574-3A50-31B4-E5B4-C19CC0783400}"/>
              </a:ext>
            </a:extLst>
          </p:cNvPr>
          <p:cNvSpPr txBox="1"/>
          <p:nvPr/>
        </p:nvSpPr>
        <p:spPr>
          <a:xfrm>
            <a:off x="6096000" y="2315182"/>
            <a:ext cx="5762796" cy="2523768"/>
          </a:xfrm>
          <a:prstGeom prst="rect">
            <a:avLst/>
          </a:prstGeom>
          <a:noFill/>
        </p:spPr>
        <p:txBody>
          <a:bodyPr wrap="none" rtlCol="0">
            <a:spAutoFit/>
          </a:bodyPr>
          <a:lstStyle/>
          <a:p>
            <a:r>
              <a:rPr lang="en-US" sz="2000" b="1" dirty="0"/>
              <a:t>Applications of IT:</a:t>
            </a:r>
          </a:p>
          <a:p>
            <a:endParaRPr lang="en-US" sz="2000" b="1" dirty="0"/>
          </a:p>
          <a:p>
            <a:pPr marL="285750" indent="-285750">
              <a:buClr>
                <a:schemeClr val="tx1"/>
              </a:buClr>
              <a:buFont typeface="Arial" panose="020B0604020202020204" pitchFamily="34" charset="0"/>
              <a:buChar char="•"/>
              <a:defRPr sz="1800">
                <a:solidFill>
                  <a:srgbClr val="3C3C3C"/>
                </a:solidFill>
              </a:defRPr>
            </a:pPr>
            <a:r>
              <a:rPr lang="en-US" sz="2000" dirty="0"/>
              <a:t> E-commerce and Digital Marketing</a:t>
            </a:r>
          </a:p>
          <a:p>
            <a:pPr marL="285750" indent="-285750">
              <a:buClr>
                <a:schemeClr val="tx1"/>
              </a:buClr>
              <a:buFont typeface="Arial" panose="020B0604020202020204" pitchFamily="34" charset="0"/>
              <a:buChar char="•"/>
              <a:defRPr sz="1800">
                <a:solidFill>
                  <a:srgbClr val="3C3C3C"/>
                </a:solidFill>
              </a:defRPr>
            </a:pPr>
            <a:r>
              <a:rPr lang="en-US" sz="2000" dirty="0"/>
              <a:t> Enterprise Resource Planning (ERP)</a:t>
            </a:r>
          </a:p>
          <a:p>
            <a:pPr marL="285750" indent="-285750">
              <a:buClr>
                <a:schemeClr val="tx1"/>
              </a:buClr>
              <a:buFont typeface="Arial" panose="020B0604020202020204" pitchFamily="34" charset="0"/>
              <a:buChar char="•"/>
              <a:defRPr sz="1800">
                <a:solidFill>
                  <a:srgbClr val="3C3C3C"/>
                </a:solidFill>
              </a:defRPr>
            </a:pPr>
            <a:r>
              <a:rPr lang="en-US" sz="2000" dirty="0"/>
              <a:t> Customer Relationship Management (CRM)</a:t>
            </a:r>
          </a:p>
          <a:p>
            <a:pPr marL="285750" indent="-285750">
              <a:buClr>
                <a:schemeClr val="tx1"/>
              </a:buClr>
              <a:buFont typeface="Arial" panose="020B0604020202020204" pitchFamily="34" charset="0"/>
              <a:buChar char="•"/>
              <a:defRPr sz="1800">
                <a:solidFill>
                  <a:srgbClr val="3C3C3C"/>
                </a:solidFill>
              </a:defRPr>
            </a:pPr>
            <a:r>
              <a:rPr lang="en-US" sz="2000" dirty="0"/>
              <a:t> Business Intelligence and Analytics</a:t>
            </a:r>
          </a:p>
          <a:p>
            <a:pPr marL="285750" indent="-285750">
              <a:buClr>
                <a:schemeClr val="tx1"/>
              </a:buClr>
              <a:buFont typeface="Arial" panose="020B0604020202020204" pitchFamily="34" charset="0"/>
              <a:buChar char="•"/>
              <a:defRPr sz="1800">
                <a:solidFill>
                  <a:srgbClr val="3C3C3C"/>
                </a:solidFill>
              </a:defRPr>
            </a:pPr>
            <a:r>
              <a:rPr lang="en-US" sz="2000" dirty="0"/>
              <a:t> Remote work, collaboration, and automation tools</a:t>
            </a:r>
          </a:p>
          <a:p>
            <a:endParaRPr lang="en-IN" dirty="0"/>
          </a:p>
        </p:txBody>
      </p:sp>
    </p:spTree>
    <p:extLst>
      <p:ext uri="{BB962C8B-B14F-4D97-AF65-F5344CB8AC3E}">
        <p14:creationId xmlns:p14="http://schemas.microsoft.com/office/powerpoint/2010/main" val="3033313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34AC7-934E-7FEE-53F0-9B1468B7CA17}"/>
              </a:ext>
            </a:extLst>
          </p:cNvPr>
          <p:cNvSpPr>
            <a:spLocks noGrp="1"/>
          </p:cNvSpPr>
          <p:nvPr>
            <p:ph type="title"/>
          </p:nvPr>
        </p:nvSpPr>
        <p:spPr/>
        <p:txBody>
          <a:bodyPr/>
          <a:lstStyle/>
          <a:p>
            <a:r>
              <a:rPr lang="en-US" dirty="0"/>
              <a:t>Role of IT in Business Operations</a:t>
            </a:r>
            <a:br>
              <a:rPr lang="en-US" dirty="0"/>
            </a:br>
            <a:endParaRPr lang="en-IN" dirty="0"/>
          </a:p>
        </p:txBody>
      </p:sp>
      <p:sp>
        <p:nvSpPr>
          <p:cNvPr id="5" name="TextBox 4">
            <a:extLst>
              <a:ext uri="{FF2B5EF4-FFF2-40B4-BE49-F238E27FC236}">
                <a16:creationId xmlns:a16="http://schemas.microsoft.com/office/drawing/2014/main" id="{0497F95B-FBCB-149F-A180-B295D595926B}"/>
              </a:ext>
            </a:extLst>
          </p:cNvPr>
          <p:cNvSpPr txBox="1"/>
          <p:nvPr/>
        </p:nvSpPr>
        <p:spPr>
          <a:xfrm>
            <a:off x="1451578" y="1990117"/>
            <a:ext cx="5292121" cy="4370427"/>
          </a:xfrm>
          <a:prstGeom prst="rect">
            <a:avLst/>
          </a:prstGeom>
          <a:noFill/>
        </p:spPr>
        <p:txBody>
          <a:bodyPr wrap="square" rtlCol="0">
            <a:spAutoFit/>
          </a:bodyPr>
          <a:lstStyle/>
          <a:p>
            <a:r>
              <a:rPr lang="en-US" sz="2000" dirty="0"/>
              <a:t>IT supports major business functions:</a:t>
            </a:r>
          </a:p>
          <a:p>
            <a:endParaRPr lang="en-US" sz="2000" dirty="0"/>
          </a:p>
          <a:p>
            <a:pPr marL="285750" indent="-285750">
              <a:buFont typeface="Arial" panose="020B0604020202020204" pitchFamily="34" charset="0"/>
              <a:buChar char="•"/>
            </a:pPr>
            <a:r>
              <a:rPr lang="en-US" sz="2000" b="1" dirty="0"/>
              <a:t>Finance:</a:t>
            </a:r>
            <a:r>
              <a:rPr lang="en-US" sz="2000" dirty="0"/>
              <a:t> Accounting systems, payroll automation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HR:</a:t>
            </a:r>
            <a:r>
              <a:rPr lang="en-US" sz="2000" dirty="0"/>
              <a:t> Employee management systems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Operations:</a:t>
            </a:r>
            <a:r>
              <a:rPr lang="en-US" sz="2000" dirty="0"/>
              <a:t> Inventory &amp; supply chain management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Marketing:</a:t>
            </a:r>
            <a:r>
              <a:rPr lang="en-US" sz="2000" dirty="0"/>
              <a:t> Digital campaigns &amp; analytics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b="1" dirty="0"/>
              <a:t>Customer Service:</a:t>
            </a:r>
            <a:r>
              <a:rPr lang="en-US" sz="2000" dirty="0"/>
              <a:t> CRM tools</a:t>
            </a:r>
          </a:p>
          <a:p>
            <a:endParaRPr lang="en-IN" dirty="0"/>
          </a:p>
        </p:txBody>
      </p:sp>
      <p:sp>
        <p:nvSpPr>
          <p:cNvPr id="6" name="TextBox 5">
            <a:extLst>
              <a:ext uri="{FF2B5EF4-FFF2-40B4-BE49-F238E27FC236}">
                <a16:creationId xmlns:a16="http://schemas.microsoft.com/office/drawing/2014/main" id="{EDC299EC-B378-1508-D861-6B5BFFC1B7FB}"/>
              </a:ext>
            </a:extLst>
          </p:cNvPr>
          <p:cNvSpPr txBox="1"/>
          <p:nvPr/>
        </p:nvSpPr>
        <p:spPr>
          <a:xfrm>
            <a:off x="6973718" y="1990117"/>
            <a:ext cx="3235181" cy="3139321"/>
          </a:xfrm>
          <a:prstGeom prst="rect">
            <a:avLst/>
          </a:prstGeom>
          <a:noFill/>
        </p:spPr>
        <p:txBody>
          <a:bodyPr wrap="none" rtlCol="0">
            <a:spAutoFit/>
          </a:bodyPr>
          <a:lstStyle/>
          <a:p>
            <a:r>
              <a:rPr lang="en-US" sz="2000" b="1" dirty="0"/>
              <a:t>Impact:</a:t>
            </a:r>
          </a:p>
          <a:p>
            <a:endParaRPr lang="en-US" sz="2000" dirty="0"/>
          </a:p>
          <a:p>
            <a:pPr marL="285750" indent="-285750">
              <a:buFont typeface="Arial" panose="020B0604020202020204" pitchFamily="34" charset="0"/>
              <a:buChar char="•"/>
            </a:pPr>
            <a:r>
              <a:rPr lang="en-US" sz="2000" dirty="0"/>
              <a:t>Faster communication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Improved accuracy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Reduced operational costs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Real-time decision-making</a:t>
            </a:r>
          </a:p>
          <a:p>
            <a:endParaRPr lang="en-IN" dirty="0"/>
          </a:p>
        </p:txBody>
      </p:sp>
    </p:spTree>
    <p:extLst>
      <p:ext uri="{BB962C8B-B14F-4D97-AF65-F5344CB8AC3E}">
        <p14:creationId xmlns:p14="http://schemas.microsoft.com/office/powerpoint/2010/main" val="3196127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2146A-68B3-2C3A-3A46-94C4857FE3C3}"/>
              </a:ext>
            </a:extLst>
          </p:cNvPr>
          <p:cNvSpPr>
            <a:spLocks noGrp="1"/>
          </p:cNvSpPr>
          <p:nvPr>
            <p:ph type="title"/>
          </p:nvPr>
        </p:nvSpPr>
        <p:spPr/>
        <p:txBody>
          <a:bodyPr/>
          <a:lstStyle/>
          <a:p>
            <a:r>
              <a:rPr lang="en-IN" dirty="0"/>
              <a:t>Overview of Business Systems</a:t>
            </a:r>
          </a:p>
        </p:txBody>
      </p:sp>
      <p:sp>
        <p:nvSpPr>
          <p:cNvPr id="3" name="TextBox 2">
            <a:extLst>
              <a:ext uri="{FF2B5EF4-FFF2-40B4-BE49-F238E27FC236}">
                <a16:creationId xmlns:a16="http://schemas.microsoft.com/office/drawing/2014/main" id="{754ABAC2-BC0B-2FF5-D1AF-000481A5A151}"/>
              </a:ext>
            </a:extLst>
          </p:cNvPr>
          <p:cNvSpPr txBox="1"/>
          <p:nvPr/>
        </p:nvSpPr>
        <p:spPr>
          <a:xfrm>
            <a:off x="1451579" y="2120630"/>
            <a:ext cx="5330757" cy="4062651"/>
          </a:xfrm>
          <a:prstGeom prst="rect">
            <a:avLst/>
          </a:prstGeom>
          <a:noFill/>
        </p:spPr>
        <p:txBody>
          <a:bodyPr wrap="square" rtlCol="0">
            <a:spAutoFit/>
          </a:bodyPr>
          <a:lstStyle/>
          <a:p>
            <a:r>
              <a:rPr lang="en-IN" sz="2000" dirty="0"/>
              <a:t>Business systems integrate processes across departments.</a:t>
            </a:r>
          </a:p>
          <a:p>
            <a:endParaRPr lang="en-IN" sz="2000" dirty="0"/>
          </a:p>
          <a:p>
            <a:r>
              <a:rPr lang="en-IN" sz="2000" dirty="0"/>
              <a:t>Examples:</a:t>
            </a:r>
          </a:p>
          <a:p>
            <a:endParaRPr lang="en-IN" sz="2000" dirty="0"/>
          </a:p>
          <a:p>
            <a:pPr marL="342900" indent="-342900">
              <a:buFont typeface="+mj-lt"/>
              <a:buAutoNum type="arabicPeriod"/>
            </a:pPr>
            <a:r>
              <a:rPr lang="en-IN" b="1" dirty="0"/>
              <a:t>SAP ERP</a:t>
            </a:r>
            <a:r>
              <a:rPr lang="en-IN" dirty="0"/>
              <a:t> </a:t>
            </a:r>
            <a:r>
              <a:rPr lang="en-IN" sz="2000" dirty="0"/>
              <a:t>– Integrates finance, HR, supply chain.</a:t>
            </a:r>
          </a:p>
          <a:p>
            <a:pPr marL="342900" indent="-342900">
              <a:buFont typeface="+mj-lt"/>
              <a:buAutoNum type="arabicPeriod"/>
            </a:pPr>
            <a:r>
              <a:rPr lang="en-IN" b="1" dirty="0"/>
              <a:t>Salesforce</a:t>
            </a:r>
            <a:r>
              <a:rPr lang="en-IN" sz="2000" dirty="0"/>
              <a:t> – Manages customer relationships.</a:t>
            </a:r>
          </a:p>
          <a:p>
            <a:pPr marL="342900" indent="-342900">
              <a:buFont typeface="+mj-lt"/>
              <a:buAutoNum type="arabicPeriod"/>
            </a:pPr>
            <a:r>
              <a:rPr lang="en-IN" b="1" dirty="0"/>
              <a:t>Oracle ERP</a:t>
            </a:r>
            <a:r>
              <a:rPr lang="en-IN" dirty="0"/>
              <a:t> </a:t>
            </a:r>
            <a:r>
              <a:rPr lang="en-IN" sz="2000" dirty="0"/>
              <a:t>– Enterprise resource planning system.</a:t>
            </a:r>
          </a:p>
          <a:p>
            <a:pPr marL="342900" indent="-342900">
              <a:buFont typeface="+mj-lt"/>
              <a:buAutoNum type="arabicPeriod"/>
            </a:pPr>
            <a:r>
              <a:rPr lang="en-IN" b="1" dirty="0"/>
              <a:t>Microsoft Dynamics 365</a:t>
            </a:r>
            <a:r>
              <a:rPr lang="en-IN" dirty="0"/>
              <a:t> </a:t>
            </a:r>
            <a:r>
              <a:rPr lang="en-IN" sz="2000" dirty="0"/>
              <a:t>– ERP and CRM combined.</a:t>
            </a:r>
          </a:p>
          <a:p>
            <a:endParaRPr lang="en-IN" dirty="0"/>
          </a:p>
        </p:txBody>
      </p:sp>
      <p:sp>
        <p:nvSpPr>
          <p:cNvPr id="4" name="TextBox 3">
            <a:extLst>
              <a:ext uri="{FF2B5EF4-FFF2-40B4-BE49-F238E27FC236}">
                <a16:creationId xmlns:a16="http://schemas.microsoft.com/office/drawing/2014/main" id="{85DE0A01-4B57-E857-937A-7EAC41C69C27}"/>
              </a:ext>
            </a:extLst>
          </p:cNvPr>
          <p:cNvSpPr txBox="1"/>
          <p:nvPr/>
        </p:nvSpPr>
        <p:spPr>
          <a:xfrm>
            <a:off x="7013643" y="2120630"/>
            <a:ext cx="5081840" cy="1908215"/>
          </a:xfrm>
          <a:prstGeom prst="rect">
            <a:avLst/>
          </a:prstGeom>
          <a:noFill/>
        </p:spPr>
        <p:txBody>
          <a:bodyPr wrap="none" rtlCol="0">
            <a:spAutoFit/>
          </a:bodyPr>
          <a:lstStyle/>
          <a:p>
            <a:r>
              <a:rPr lang="en-IN" sz="2000" b="1" dirty="0"/>
              <a:t>Types:</a:t>
            </a:r>
          </a:p>
          <a:p>
            <a:endParaRPr lang="en-IN" sz="2000" b="1" dirty="0"/>
          </a:p>
          <a:p>
            <a:pPr marL="342900" indent="-342900">
              <a:buFont typeface="+mj-lt"/>
              <a:buAutoNum type="arabicPeriod"/>
            </a:pPr>
            <a:r>
              <a:rPr lang="en-IN" sz="2000" dirty="0"/>
              <a:t>ERP (Enterprise Resource Planning)</a:t>
            </a:r>
          </a:p>
          <a:p>
            <a:pPr marL="342900" indent="-342900">
              <a:buFont typeface="+mj-lt"/>
              <a:buAutoNum type="arabicPeriod"/>
            </a:pPr>
            <a:r>
              <a:rPr lang="en-IN" sz="2000" dirty="0"/>
              <a:t>CRM (Customer Relationship Management)</a:t>
            </a:r>
          </a:p>
          <a:p>
            <a:pPr marL="342900" indent="-342900">
              <a:buFont typeface="+mj-lt"/>
              <a:buAutoNum type="arabicPeriod"/>
            </a:pPr>
            <a:r>
              <a:rPr lang="en-IN" sz="2000" dirty="0"/>
              <a:t>SCM (Supply Chain Management)</a:t>
            </a:r>
          </a:p>
          <a:p>
            <a:endParaRPr lang="en-IN" dirty="0"/>
          </a:p>
        </p:txBody>
      </p:sp>
    </p:spTree>
    <p:extLst>
      <p:ext uri="{BB962C8B-B14F-4D97-AF65-F5344CB8AC3E}">
        <p14:creationId xmlns:p14="http://schemas.microsoft.com/office/powerpoint/2010/main" val="15318402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949DCC-623B-D96B-7A50-9EE606EB2121}"/>
              </a:ext>
            </a:extLst>
          </p:cNvPr>
          <p:cNvSpPr txBox="1"/>
          <p:nvPr/>
        </p:nvSpPr>
        <p:spPr>
          <a:xfrm>
            <a:off x="1011677" y="807396"/>
            <a:ext cx="5893536" cy="1569660"/>
          </a:xfrm>
          <a:prstGeom prst="rect">
            <a:avLst/>
          </a:prstGeom>
          <a:noFill/>
        </p:spPr>
        <p:txBody>
          <a:bodyPr wrap="none" rtlCol="0">
            <a:spAutoFit/>
          </a:bodyPr>
          <a:lstStyle/>
          <a:p>
            <a:r>
              <a:rPr lang="en-IN" sz="3200" b="1" dirty="0"/>
              <a:t>Key Features of ERP System : </a:t>
            </a:r>
          </a:p>
          <a:p>
            <a:endParaRPr lang="en-IN" sz="3200" dirty="0"/>
          </a:p>
          <a:p>
            <a:endParaRPr lang="en-IN" sz="3200" dirty="0"/>
          </a:p>
        </p:txBody>
      </p:sp>
      <p:graphicFrame>
        <p:nvGraphicFramePr>
          <p:cNvPr id="3" name="Table 2">
            <a:extLst>
              <a:ext uri="{FF2B5EF4-FFF2-40B4-BE49-F238E27FC236}">
                <a16:creationId xmlns:a16="http://schemas.microsoft.com/office/drawing/2014/main" id="{D82B2880-9C21-EFF1-0276-D36FC319842F}"/>
              </a:ext>
            </a:extLst>
          </p:cNvPr>
          <p:cNvGraphicFramePr>
            <a:graphicFrameLocks noGrp="1"/>
          </p:cNvGraphicFramePr>
          <p:nvPr>
            <p:extLst>
              <p:ext uri="{D42A27DB-BD31-4B8C-83A1-F6EECF244321}">
                <p14:modId xmlns:p14="http://schemas.microsoft.com/office/powerpoint/2010/main" val="2814766748"/>
              </p:ext>
            </p:extLst>
          </p:nvPr>
        </p:nvGraphicFramePr>
        <p:xfrm>
          <a:off x="1011675" y="1656404"/>
          <a:ext cx="10739338" cy="4394200"/>
        </p:xfrm>
        <a:graphic>
          <a:graphicData uri="http://schemas.openxmlformats.org/drawingml/2006/table">
            <a:tbl>
              <a:tblPr firstRow="1" bandRow="1">
                <a:tableStyleId>{BC89EF96-8CEA-46FF-86C4-4CE0E7609802}</a:tableStyleId>
              </a:tblPr>
              <a:tblGrid>
                <a:gridCol w="5369669">
                  <a:extLst>
                    <a:ext uri="{9D8B030D-6E8A-4147-A177-3AD203B41FA5}">
                      <a16:colId xmlns:a16="http://schemas.microsoft.com/office/drawing/2014/main" val="361015000"/>
                    </a:ext>
                  </a:extLst>
                </a:gridCol>
                <a:gridCol w="5369669">
                  <a:extLst>
                    <a:ext uri="{9D8B030D-6E8A-4147-A177-3AD203B41FA5}">
                      <a16:colId xmlns:a16="http://schemas.microsoft.com/office/drawing/2014/main" val="3916799665"/>
                    </a:ext>
                  </a:extLst>
                </a:gridCol>
              </a:tblGrid>
              <a:tr h="370840">
                <a:tc>
                  <a:txBody>
                    <a:bodyPr/>
                    <a:lstStyle/>
                    <a:p>
                      <a:pPr algn="ctr"/>
                      <a:r>
                        <a:rPr lang="en-IN" dirty="0"/>
                        <a:t>Feature</a:t>
                      </a:r>
                    </a:p>
                  </a:txBody>
                  <a:tcPr/>
                </a:tc>
                <a:tc>
                  <a:txBody>
                    <a:bodyPr/>
                    <a:lstStyle/>
                    <a:p>
                      <a:pPr algn="ctr"/>
                      <a:r>
                        <a:rPr lang="en-IN" dirty="0"/>
                        <a:t>Description</a:t>
                      </a:r>
                    </a:p>
                  </a:txBody>
                  <a:tcPr/>
                </a:tc>
                <a:extLst>
                  <a:ext uri="{0D108BD9-81ED-4DB2-BD59-A6C34878D82A}">
                    <a16:rowId xmlns:a16="http://schemas.microsoft.com/office/drawing/2014/main" val="387892829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Centralized Database</a:t>
                      </a:r>
                      <a:endParaRPr lang="en-IN" sz="1800" dirty="0"/>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Stores all business data in one place for easy access and consistency.</a:t>
                      </a:r>
                    </a:p>
                    <a:p>
                      <a:pPr algn="ctr"/>
                      <a:endParaRPr lang="en-IN" dirty="0"/>
                    </a:p>
                  </a:txBody>
                  <a:tcPr/>
                </a:tc>
                <a:extLst>
                  <a:ext uri="{0D108BD9-81ED-4DB2-BD59-A6C34878D82A}">
                    <a16:rowId xmlns:a16="http://schemas.microsoft.com/office/drawing/2014/main" val="30967829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Integration of Functions</a:t>
                      </a:r>
                      <a:endParaRPr lang="en-IN" sz="1800" dirty="0"/>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Combines processes across departments (e.g., HR, Finance, Sales).</a:t>
                      </a:r>
                    </a:p>
                    <a:p>
                      <a:pPr algn="ctr"/>
                      <a:endParaRPr lang="en-IN" dirty="0"/>
                    </a:p>
                  </a:txBody>
                  <a:tcPr/>
                </a:tc>
                <a:extLst>
                  <a:ext uri="{0D108BD9-81ED-4DB2-BD59-A6C34878D82A}">
                    <a16:rowId xmlns:a16="http://schemas.microsoft.com/office/drawing/2014/main" val="20457586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Automation</a:t>
                      </a:r>
                      <a:endParaRPr lang="en-IN" sz="1800" dirty="0"/>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Reduces manual work and errors by automating repetitive tasks.</a:t>
                      </a:r>
                    </a:p>
                    <a:p>
                      <a:pPr algn="ctr"/>
                      <a:endParaRPr lang="en-IN" dirty="0"/>
                    </a:p>
                  </a:txBody>
                  <a:tcPr/>
                </a:tc>
                <a:extLst>
                  <a:ext uri="{0D108BD9-81ED-4DB2-BD59-A6C34878D82A}">
                    <a16:rowId xmlns:a16="http://schemas.microsoft.com/office/drawing/2014/main" val="30539106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Real-Time Reporting</a:t>
                      </a:r>
                      <a:endParaRPr lang="en-IN" sz="1800" dirty="0"/>
                    </a:p>
                    <a:p>
                      <a:pPr algn="ctr"/>
                      <a:endParaRPr lang="en-IN" dirty="0"/>
                    </a:p>
                  </a:txBody>
                  <a:tcPr/>
                </a:tc>
                <a:tc>
                  <a:txBody>
                    <a:bodyPr/>
                    <a:lstStyle/>
                    <a:p>
                      <a:pPr algn="ctr"/>
                      <a:r>
                        <a:rPr lang="en-US" sz="1800" dirty="0"/>
                        <a:t>Provides instant access to business insights and performance metrics.</a:t>
                      </a:r>
                      <a:endParaRPr lang="en-IN" dirty="0"/>
                    </a:p>
                  </a:txBody>
                  <a:tcPr/>
                </a:tc>
                <a:extLst>
                  <a:ext uri="{0D108BD9-81ED-4DB2-BD59-A6C34878D82A}">
                    <a16:rowId xmlns:a16="http://schemas.microsoft.com/office/drawing/2014/main" val="142289324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t>Customization</a:t>
                      </a:r>
                      <a:endParaRPr lang="en-IN" sz="1800" dirty="0"/>
                    </a:p>
                    <a:p>
                      <a:pPr algn="ct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t>Can be tailored to fit specific business needs.</a:t>
                      </a:r>
                    </a:p>
                    <a:p>
                      <a:pPr algn="ctr"/>
                      <a:endParaRPr lang="en-IN" dirty="0"/>
                    </a:p>
                  </a:txBody>
                  <a:tcPr/>
                </a:tc>
                <a:extLst>
                  <a:ext uri="{0D108BD9-81ED-4DB2-BD59-A6C34878D82A}">
                    <a16:rowId xmlns:a16="http://schemas.microsoft.com/office/drawing/2014/main" val="2881152313"/>
                  </a:ext>
                </a:extLst>
              </a:tr>
            </a:tbl>
          </a:graphicData>
        </a:graphic>
      </p:graphicFrame>
    </p:spTree>
    <p:extLst>
      <p:ext uri="{BB962C8B-B14F-4D97-AF65-F5344CB8AC3E}">
        <p14:creationId xmlns:p14="http://schemas.microsoft.com/office/powerpoint/2010/main" val="1393827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3114D-CC19-467C-7BDB-E25FB10EA850}"/>
              </a:ext>
            </a:extLst>
          </p:cNvPr>
          <p:cNvSpPr>
            <a:spLocks noGrp="1"/>
          </p:cNvSpPr>
          <p:nvPr>
            <p:ph type="title"/>
          </p:nvPr>
        </p:nvSpPr>
        <p:spPr/>
        <p:txBody>
          <a:bodyPr/>
          <a:lstStyle/>
          <a:p>
            <a:r>
              <a:rPr lang="en-US" dirty="0"/>
              <a:t>Interplay Between IT and Business Strategy</a:t>
            </a:r>
            <a:endParaRPr lang="en-IN" dirty="0"/>
          </a:p>
        </p:txBody>
      </p:sp>
      <p:sp>
        <p:nvSpPr>
          <p:cNvPr id="3" name="TextBox 2">
            <a:extLst>
              <a:ext uri="{FF2B5EF4-FFF2-40B4-BE49-F238E27FC236}">
                <a16:creationId xmlns:a16="http://schemas.microsoft.com/office/drawing/2014/main" id="{77323AC9-44D8-0672-5491-40530D532D12}"/>
              </a:ext>
            </a:extLst>
          </p:cNvPr>
          <p:cNvSpPr txBox="1"/>
          <p:nvPr/>
        </p:nvSpPr>
        <p:spPr>
          <a:xfrm>
            <a:off x="1451579" y="2149813"/>
            <a:ext cx="10204315" cy="1323439"/>
          </a:xfrm>
          <a:prstGeom prst="rect">
            <a:avLst/>
          </a:prstGeom>
          <a:noFill/>
        </p:spPr>
        <p:txBody>
          <a:bodyPr wrap="square" rtlCol="0">
            <a:spAutoFit/>
          </a:bodyPr>
          <a:lstStyle/>
          <a:p>
            <a:r>
              <a:rPr lang="en-US" sz="2000" dirty="0"/>
              <a:t>Business strategy, IT strategy, and alignment capability are interdependent: </a:t>
            </a:r>
          </a:p>
          <a:p>
            <a:pPr marL="342900" indent="-342900">
              <a:buFont typeface="Arial" panose="020B0604020202020204" pitchFamily="34" charset="0"/>
              <a:buChar char="•"/>
            </a:pPr>
            <a:r>
              <a:rPr lang="en-US" sz="2000" b="1" dirty="0"/>
              <a:t>Business strategy</a:t>
            </a:r>
            <a:r>
              <a:rPr lang="en-US" sz="2000" dirty="0"/>
              <a:t> sets the overall goals.</a:t>
            </a:r>
          </a:p>
          <a:p>
            <a:pPr marL="342900" indent="-342900">
              <a:buFont typeface="Arial" panose="020B0604020202020204" pitchFamily="34" charset="0"/>
              <a:buChar char="•"/>
            </a:pPr>
            <a:r>
              <a:rPr lang="en-US" sz="2000" b="1" dirty="0"/>
              <a:t>IT strategy</a:t>
            </a:r>
            <a:r>
              <a:rPr lang="en-US" sz="2000" dirty="0"/>
              <a:t> defines how technology will support those goals.</a:t>
            </a:r>
          </a:p>
          <a:p>
            <a:pPr marL="342900" indent="-342900">
              <a:buFont typeface="Arial" panose="020B0604020202020204" pitchFamily="34" charset="0"/>
              <a:buChar char="•"/>
            </a:pPr>
            <a:r>
              <a:rPr lang="en-US" sz="2000" b="1" dirty="0"/>
              <a:t>Alignment capability</a:t>
            </a:r>
            <a:r>
              <a:rPr lang="en-US" sz="2000" dirty="0"/>
              <a:t> is the organization's ability to effectively coordinate the two. </a:t>
            </a:r>
          </a:p>
        </p:txBody>
      </p:sp>
      <p:sp>
        <p:nvSpPr>
          <p:cNvPr id="4" name="TextBox 3">
            <a:extLst>
              <a:ext uri="{FF2B5EF4-FFF2-40B4-BE49-F238E27FC236}">
                <a16:creationId xmlns:a16="http://schemas.microsoft.com/office/drawing/2014/main" id="{4B90566E-8B4E-93A5-53E8-31104EEC5D29}"/>
              </a:ext>
            </a:extLst>
          </p:cNvPr>
          <p:cNvSpPr txBox="1"/>
          <p:nvPr/>
        </p:nvSpPr>
        <p:spPr>
          <a:xfrm>
            <a:off x="1451579" y="3473252"/>
            <a:ext cx="4754668" cy="2893100"/>
          </a:xfrm>
          <a:prstGeom prst="rect">
            <a:avLst/>
          </a:prstGeom>
          <a:noFill/>
        </p:spPr>
        <p:txBody>
          <a:bodyPr wrap="square" rtlCol="0">
            <a:spAutoFit/>
          </a:bodyPr>
          <a:lstStyle/>
          <a:p>
            <a:r>
              <a:rPr lang="en-IN" sz="2000" b="1" dirty="0"/>
              <a:t>Business Strategy: </a:t>
            </a:r>
          </a:p>
          <a:p>
            <a:r>
              <a:rPr lang="en-US" dirty="0"/>
              <a:t>A </a:t>
            </a:r>
            <a:r>
              <a:rPr lang="en-US" b="1" dirty="0"/>
              <a:t>business strategy</a:t>
            </a:r>
            <a:r>
              <a:rPr lang="en-US" dirty="0"/>
              <a:t> defines the </a:t>
            </a:r>
            <a:r>
              <a:rPr lang="en-US" b="1" dirty="0"/>
              <a:t>goals, direction, and long-term plans</a:t>
            </a:r>
            <a:r>
              <a:rPr lang="en-US" dirty="0"/>
              <a:t> of an organization.</a:t>
            </a:r>
          </a:p>
          <a:p>
            <a:pPr>
              <a:buClr>
                <a:schemeClr val="tx1"/>
              </a:buClr>
            </a:pPr>
            <a:r>
              <a:rPr lang="en-US" b="1" dirty="0"/>
              <a:t>Examples:</a:t>
            </a:r>
          </a:p>
          <a:p>
            <a:pPr marL="285750" indent="-285750">
              <a:buClr>
                <a:schemeClr val="tx1"/>
              </a:buClr>
              <a:buFont typeface="Arial" panose="020B0604020202020204" pitchFamily="34" charset="0"/>
              <a:buChar char="•"/>
            </a:pPr>
            <a:r>
              <a:rPr lang="en-US" dirty="0"/>
              <a:t>Expanding into new markets</a:t>
            </a:r>
          </a:p>
          <a:p>
            <a:pPr marL="285750" indent="-285750">
              <a:buClr>
                <a:schemeClr val="tx1"/>
              </a:buClr>
              <a:buFont typeface="Arial" panose="020B0604020202020204" pitchFamily="34" charset="0"/>
              <a:buChar char="•"/>
            </a:pPr>
            <a:r>
              <a:rPr lang="en-US" dirty="0"/>
              <a:t>Increasing product quality</a:t>
            </a:r>
          </a:p>
          <a:p>
            <a:pPr marL="285750" indent="-285750">
              <a:buClr>
                <a:schemeClr val="tx1"/>
              </a:buClr>
              <a:buFont typeface="Arial" panose="020B0604020202020204" pitchFamily="34" charset="0"/>
              <a:buChar char="•"/>
            </a:pPr>
            <a:r>
              <a:rPr lang="en-US" dirty="0"/>
              <a:t>Reducing operational costs</a:t>
            </a:r>
          </a:p>
          <a:p>
            <a:pPr marL="285750" indent="-285750">
              <a:buClr>
                <a:schemeClr val="tx1"/>
              </a:buClr>
              <a:buFont typeface="Arial" panose="020B0604020202020204" pitchFamily="34" charset="0"/>
              <a:buChar char="•"/>
            </a:pPr>
            <a:r>
              <a:rPr lang="en-US" dirty="0"/>
              <a:t>Enhancing customer experience</a:t>
            </a:r>
          </a:p>
          <a:p>
            <a:endParaRPr lang="en-IN" dirty="0"/>
          </a:p>
        </p:txBody>
      </p:sp>
      <p:sp>
        <p:nvSpPr>
          <p:cNvPr id="5" name="TextBox 4">
            <a:extLst>
              <a:ext uri="{FF2B5EF4-FFF2-40B4-BE49-F238E27FC236}">
                <a16:creationId xmlns:a16="http://schemas.microsoft.com/office/drawing/2014/main" id="{16E48AEB-F86F-0EF7-8F59-A7BFFACD7AB9}"/>
              </a:ext>
            </a:extLst>
          </p:cNvPr>
          <p:cNvSpPr txBox="1"/>
          <p:nvPr/>
        </p:nvSpPr>
        <p:spPr>
          <a:xfrm>
            <a:off x="6096001" y="3473252"/>
            <a:ext cx="5559893" cy="2616101"/>
          </a:xfrm>
          <a:prstGeom prst="rect">
            <a:avLst/>
          </a:prstGeom>
          <a:noFill/>
        </p:spPr>
        <p:txBody>
          <a:bodyPr wrap="square" rtlCol="0">
            <a:spAutoFit/>
          </a:bodyPr>
          <a:lstStyle/>
          <a:p>
            <a:r>
              <a:rPr lang="en-IN" sz="2000" b="1" dirty="0"/>
              <a:t>IT Strategy:</a:t>
            </a:r>
          </a:p>
          <a:p>
            <a:r>
              <a:rPr lang="en-US" dirty="0"/>
              <a:t>IT strategy defines </a:t>
            </a:r>
            <a:r>
              <a:rPr lang="en-US" b="1" dirty="0"/>
              <a:t>how technology will support the business strategy</a:t>
            </a:r>
            <a:r>
              <a:rPr lang="en-US" dirty="0"/>
              <a:t>.</a:t>
            </a:r>
          </a:p>
          <a:p>
            <a:br>
              <a:rPr lang="en-US" dirty="0"/>
            </a:br>
            <a:r>
              <a:rPr lang="en-US" dirty="0"/>
              <a:t>It includes decisions on:</a:t>
            </a:r>
          </a:p>
          <a:p>
            <a:pPr marL="285750" indent="-285750">
              <a:buClr>
                <a:schemeClr val="tx1"/>
              </a:buClr>
              <a:buFont typeface="Arial" panose="020B0604020202020204" pitchFamily="34" charset="0"/>
              <a:buChar char="•"/>
            </a:pPr>
            <a:r>
              <a:rPr lang="en-US" dirty="0"/>
              <a:t>Infrastructure (cloud, servers, networks)</a:t>
            </a:r>
          </a:p>
          <a:p>
            <a:pPr marL="285750" indent="-285750">
              <a:buClr>
                <a:schemeClr val="tx1"/>
              </a:buClr>
              <a:buFont typeface="Arial" panose="020B0604020202020204" pitchFamily="34" charset="0"/>
              <a:buChar char="•"/>
            </a:pPr>
            <a:r>
              <a:rPr lang="en-US" dirty="0"/>
              <a:t>Applications (ERP, CRM, BI tools)</a:t>
            </a:r>
          </a:p>
          <a:p>
            <a:pPr marL="285750" indent="-285750">
              <a:buClr>
                <a:schemeClr val="tx1"/>
              </a:buClr>
              <a:buFont typeface="Arial" panose="020B0604020202020204" pitchFamily="34" charset="0"/>
              <a:buChar char="•"/>
            </a:pPr>
            <a:r>
              <a:rPr lang="en-US" dirty="0"/>
              <a:t>Cybersecurity</a:t>
            </a:r>
          </a:p>
          <a:p>
            <a:pPr marL="285750" indent="-285750">
              <a:buClr>
                <a:schemeClr val="tx1"/>
              </a:buClr>
              <a:buFont typeface="Arial" panose="020B0604020202020204" pitchFamily="34" charset="0"/>
              <a:buChar char="•"/>
            </a:pPr>
            <a:r>
              <a:rPr lang="en-US" dirty="0"/>
              <a:t>IT investments and priorities</a:t>
            </a:r>
          </a:p>
        </p:txBody>
      </p:sp>
      <p:cxnSp>
        <p:nvCxnSpPr>
          <p:cNvPr id="7" name="Straight Connector 6">
            <a:extLst>
              <a:ext uri="{FF2B5EF4-FFF2-40B4-BE49-F238E27FC236}">
                <a16:creationId xmlns:a16="http://schemas.microsoft.com/office/drawing/2014/main" id="{BCE0ED1E-E69C-FADF-42FE-004B004724D8}"/>
              </a:ext>
            </a:extLst>
          </p:cNvPr>
          <p:cNvCxnSpPr>
            <a:cxnSpLocks/>
          </p:cNvCxnSpPr>
          <p:nvPr/>
        </p:nvCxnSpPr>
        <p:spPr>
          <a:xfrm flipV="1">
            <a:off x="1254868" y="3473252"/>
            <a:ext cx="10401026" cy="4425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8786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9ECDDFA-156B-86F3-FAEB-4F51D8D78192}"/>
              </a:ext>
            </a:extLst>
          </p:cNvPr>
          <p:cNvSpPr txBox="1"/>
          <p:nvPr/>
        </p:nvSpPr>
        <p:spPr>
          <a:xfrm>
            <a:off x="865762" y="661481"/>
            <a:ext cx="10642059" cy="4401205"/>
          </a:xfrm>
          <a:prstGeom prst="rect">
            <a:avLst/>
          </a:prstGeom>
          <a:noFill/>
        </p:spPr>
        <p:txBody>
          <a:bodyPr wrap="square">
            <a:spAutoFit/>
          </a:bodyPr>
          <a:lstStyle/>
          <a:p>
            <a:pPr marL="0" indent="0">
              <a:buNone/>
            </a:pPr>
            <a:r>
              <a:rPr lang="en-IN" sz="2000" b="1" dirty="0">
                <a:solidFill>
                  <a:schemeClr val="tx1"/>
                </a:solidFill>
              </a:rPr>
              <a:t>Alignment Capability:</a:t>
            </a:r>
          </a:p>
          <a:p>
            <a:pPr marL="0" indent="0">
              <a:buNone/>
            </a:pPr>
            <a:endParaRPr lang="en-IN" sz="2000" b="1" dirty="0">
              <a:solidFill>
                <a:schemeClr val="tx1"/>
              </a:solidFill>
            </a:endParaRPr>
          </a:p>
          <a:p>
            <a:pPr marL="0" indent="0">
              <a:buNone/>
            </a:pPr>
            <a:r>
              <a:rPr lang="en-US" sz="2000" b="1" dirty="0">
                <a:solidFill>
                  <a:schemeClr val="tx1"/>
                </a:solidFill>
              </a:rPr>
              <a:t>Alignment capability</a:t>
            </a:r>
            <a:r>
              <a:rPr lang="en-US" sz="2000" dirty="0">
                <a:solidFill>
                  <a:schemeClr val="tx1"/>
                </a:solidFill>
              </a:rPr>
              <a:t> is an organization’s ability to </a:t>
            </a:r>
            <a:r>
              <a:rPr lang="en-US" sz="2000" b="1" dirty="0">
                <a:solidFill>
                  <a:schemeClr val="tx1"/>
                </a:solidFill>
              </a:rPr>
              <a:t>synchronize</a:t>
            </a:r>
            <a:r>
              <a:rPr lang="en-US" sz="2000" dirty="0">
                <a:solidFill>
                  <a:schemeClr val="tx1"/>
                </a:solidFill>
              </a:rPr>
              <a:t> business and IT strategies so they work together effectively.</a:t>
            </a:r>
          </a:p>
          <a:p>
            <a:pPr marL="0" indent="0">
              <a:buNone/>
            </a:pPr>
            <a:endParaRPr lang="en-US" sz="2000" dirty="0">
              <a:solidFill>
                <a:schemeClr val="tx1"/>
              </a:solidFill>
            </a:endParaRPr>
          </a:p>
          <a:p>
            <a:pPr marL="0" indent="0">
              <a:buNone/>
            </a:pPr>
            <a:r>
              <a:rPr lang="en-US" sz="2000" b="1" dirty="0">
                <a:solidFill>
                  <a:schemeClr val="tx1"/>
                </a:solidFill>
              </a:rPr>
              <a:t>It includes:</a:t>
            </a:r>
          </a:p>
          <a:p>
            <a:pPr marL="0" indent="0">
              <a:buNone/>
            </a:pPr>
            <a:endParaRPr lang="en-US" sz="2000" b="1" dirty="0">
              <a:solidFill>
                <a:schemeClr val="tx1"/>
              </a:solidFill>
            </a:endParaRPr>
          </a:p>
          <a:p>
            <a:pPr marL="285750" indent="-285750">
              <a:buClr>
                <a:schemeClr val="tx1"/>
              </a:buClr>
              <a:buFont typeface="Arial" panose="020B0604020202020204" pitchFamily="34" charset="0"/>
              <a:buChar char="•"/>
            </a:pPr>
            <a:r>
              <a:rPr lang="en-US" sz="2000" dirty="0">
                <a:solidFill>
                  <a:schemeClr val="tx1"/>
                </a:solidFill>
              </a:rPr>
              <a:t>Good communication between IT and business teams</a:t>
            </a:r>
          </a:p>
          <a:p>
            <a:pPr marL="285750" indent="-285750">
              <a:buClr>
                <a:schemeClr val="tx1"/>
              </a:buClr>
              <a:buFont typeface="Arial" panose="020B0604020202020204" pitchFamily="34" charset="0"/>
              <a:buChar char="•"/>
            </a:pPr>
            <a:r>
              <a:rPr lang="en-US" sz="2000" dirty="0">
                <a:solidFill>
                  <a:schemeClr val="tx1"/>
                </a:solidFill>
              </a:rPr>
              <a:t>Strong leadership and collaboration</a:t>
            </a:r>
          </a:p>
          <a:p>
            <a:pPr marL="285750" indent="-285750">
              <a:buClr>
                <a:schemeClr val="tx1"/>
              </a:buClr>
              <a:buFont typeface="Arial" panose="020B0604020202020204" pitchFamily="34" charset="0"/>
              <a:buChar char="•"/>
            </a:pPr>
            <a:r>
              <a:rPr lang="en-US" sz="2000" dirty="0">
                <a:solidFill>
                  <a:schemeClr val="tx1"/>
                </a:solidFill>
              </a:rPr>
              <a:t>Shared goals and understanding</a:t>
            </a:r>
          </a:p>
          <a:p>
            <a:pPr marL="285750" indent="-285750">
              <a:buClr>
                <a:schemeClr val="tx1"/>
              </a:buClr>
              <a:buFont typeface="Arial" panose="020B0604020202020204" pitchFamily="34" charset="0"/>
              <a:buChar char="•"/>
            </a:pPr>
            <a:r>
              <a:rPr lang="en-US" sz="2000" dirty="0">
                <a:solidFill>
                  <a:schemeClr val="tx1"/>
                </a:solidFill>
              </a:rPr>
              <a:t>Flexible processes</a:t>
            </a:r>
          </a:p>
          <a:p>
            <a:pPr marL="285750" indent="-285750">
              <a:buClr>
                <a:schemeClr val="tx1"/>
              </a:buClr>
              <a:buFont typeface="Arial" panose="020B0604020202020204" pitchFamily="34" charset="0"/>
              <a:buChar char="•"/>
            </a:pPr>
            <a:r>
              <a:rPr lang="en-US" sz="2000" dirty="0">
                <a:solidFill>
                  <a:schemeClr val="tx1"/>
                </a:solidFill>
              </a:rPr>
              <a:t>Governance and change management</a:t>
            </a:r>
          </a:p>
          <a:p>
            <a:pPr marL="0" indent="0">
              <a:buNone/>
            </a:pPr>
            <a:endParaRPr lang="en-US" sz="2000" dirty="0">
              <a:solidFill>
                <a:schemeClr val="tx1"/>
              </a:solidFill>
            </a:endParaRPr>
          </a:p>
          <a:p>
            <a:pPr marL="0" indent="0">
              <a:buNone/>
            </a:pPr>
            <a:r>
              <a:rPr lang="en-US" sz="2000" dirty="0">
                <a:solidFill>
                  <a:schemeClr val="tx1"/>
                </a:solidFill>
              </a:rPr>
              <a:t>Even if a company has a great business plan and strong technology, it </a:t>
            </a:r>
            <a:r>
              <a:rPr lang="en-US" sz="2000" b="1" dirty="0">
                <a:solidFill>
                  <a:schemeClr val="tx1"/>
                </a:solidFill>
              </a:rPr>
              <a:t>fails</a:t>
            </a:r>
            <a:r>
              <a:rPr lang="en-US" sz="2000" dirty="0">
                <a:solidFill>
                  <a:schemeClr val="tx1"/>
                </a:solidFill>
              </a:rPr>
              <a:t> if the two are not aligned.</a:t>
            </a:r>
          </a:p>
        </p:txBody>
      </p:sp>
    </p:spTree>
    <p:extLst>
      <p:ext uri="{BB962C8B-B14F-4D97-AF65-F5344CB8AC3E}">
        <p14:creationId xmlns:p14="http://schemas.microsoft.com/office/powerpoint/2010/main" val="15431356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E0150-8AB6-D016-42DE-2F1410E38CDC}"/>
              </a:ext>
            </a:extLst>
          </p:cNvPr>
          <p:cNvSpPr>
            <a:spLocks noGrp="1"/>
          </p:cNvSpPr>
          <p:nvPr>
            <p:ph type="title"/>
          </p:nvPr>
        </p:nvSpPr>
        <p:spPr/>
        <p:txBody>
          <a:bodyPr/>
          <a:lstStyle/>
          <a:p>
            <a:r>
              <a:rPr lang="en-IN" b="1" dirty="0"/>
              <a:t>How They Work Together</a:t>
            </a:r>
            <a:br>
              <a:rPr lang="en-IN" b="1" dirty="0"/>
            </a:br>
            <a:r>
              <a:rPr lang="en-IN" dirty="0"/>
              <a:t>(</a:t>
            </a:r>
            <a:r>
              <a:rPr lang="en-IN" sz="2800" dirty="0"/>
              <a:t>The Alignment Cycle)</a:t>
            </a:r>
          </a:p>
        </p:txBody>
      </p:sp>
      <p:sp>
        <p:nvSpPr>
          <p:cNvPr id="4" name="TextBox 3">
            <a:extLst>
              <a:ext uri="{FF2B5EF4-FFF2-40B4-BE49-F238E27FC236}">
                <a16:creationId xmlns:a16="http://schemas.microsoft.com/office/drawing/2014/main" id="{DE3CF97A-F20B-025C-B58A-84CA8F082765}"/>
              </a:ext>
            </a:extLst>
          </p:cNvPr>
          <p:cNvSpPr txBox="1"/>
          <p:nvPr/>
        </p:nvSpPr>
        <p:spPr>
          <a:xfrm>
            <a:off x="4007795" y="2169267"/>
            <a:ext cx="3339376" cy="646331"/>
          </a:xfrm>
          <a:prstGeom prst="rect">
            <a:avLst/>
          </a:prstGeom>
          <a:noFill/>
        </p:spPr>
        <p:txBody>
          <a:bodyPr wrap="none" rtlCol="0">
            <a:spAutoFit/>
          </a:bodyPr>
          <a:lstStyle/>
          <a:p>
            <a:r>
              <a:rPr lang="en-US" altLang="en-US" b="1" dirty="0">
                <a:latin typeface="Arial" panose="020B0604020202020204" pitchFamily="34" charset="0"/>
              </a:rPr>
              <a:t>Business Strategy is created</a:t>
            </a:r>
            <a:endParaRPr lang="en-US" altLang="en-US" dirty="0">
              <a:latin typeface="Arial" panose="020B0604020202020204" pitchFamily="34" charset="0"/>
            </a:endParaRPr>
          </a:p>
          <a:p>
            <a:endParaRPr lang="en-IN" dirty="0"/>
          </a:p>
        </p:txBody>
      </p:sp>
      <p:sp>
        <p:nvSpPr>
          <p:cNvPr id="5" name="Arrow: Down 4">
            <a:extLst>
              <a:ext uri="{FF2B5EF4-FFF2-40B4-BE49-F238E27FC236}">
                <a16:creationId xmlns:a16="http://schemas.microsoft.com/office/drawing/2014/main" id="{1056367D-56B1-5063-C62D-B80AC431B5A5}"/>
              </a:ext>
            </a:extLst>
          </p:cNvPr>
          <p:cNvSpPr/>
          <p:nvPr/>
        </p:nvSpPr>
        <p:spPr>
          <a:xfrm>
            <a:off x="5592722" y="2633095"/>
            <a:ext cx="84761" cy="365006"/>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DC54330C-6449-9B6C-DE3E-0684F87F21CD}"/>
              </a:ext>
            </a:extLst>
          </p:cNvPr>
          <p:cNvSpPr txBox="1"/>
          <p:nvPr/>
        </p:nvSpPr>
        <p:spPr>
          <a:xfrm>
            <a:off x="3822970" y="2998101"/>
            <a:ext cx="3980577" cy="646331"/>
          </a:xfrm>
          <a:prstGeom prst="rect">
            <a:avLst/>
          </a:prstGeom>
          <a:noFill/>
        </p:spPr>
        <p:txBody>
          <a:bodyPr wrap="none" rtlCol="0">
            <a:spAutoFit/>
          </a:bodyPr>
          <a:lstStyle/>
          <a:p>
            <a:r>
              <a:rPr lang="en-US" altLang="en-US" b="1" dirty="0">
                <a:latin typeface="Arial" panose="020B0604020202020204" pitchFamily="34" charset="0"/>
              </a:rPr>
              <a:t>IT Strategy is designed</a:t>
            </a:r>
            <a:r>
              <a:rPr lang="en-US" altLang="en-US" dirty="0">
                <a:latin typeface="Arial" panose="020B0604020202020204" pitchFamily="34" charset="0"/>
              </a:rPr>
              <a:t> to support it</a:t>
            </a:r>
          </a:p>
          <a:p>
            <a:endParaRPr lang="en-IN" dirty="0"/>
          </a:p>
        </p:txBody>
      </p:sp>
      <p:sp>
        <p:nvSpPr>
          <p:cNvPr id="7" name="Arrow: Down 6">
            <a:extLst>
              <a:ext uri="{FF2B5EF4-FFF2-40B4-BE49-F238E27FC236}">
                <a16:creationId xmlns:a16="http://schemas.microsoft.com/office/drawing/2014/main" id="{9874B755-4CAF-A41F-FE36-BB2337475162}"/>
              </a:ext>
            </a:extLst>
          </p:cNvPr>
          <p:cNvSpPr/>
          <p:nvPr/>
        </p:nvSpPr>
        <p:spPr>
          <a:xfrm>
            <a:off x="5576054" y="3429000"/>
            <a:ext cx="84761" cy="365006"/>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008E03E8-90EA-A859-AADB-51745C9252FC}"/>
              </a:ext>
            </a:extLst>
          </p:cNvPr>
          <p:cNvSpPr txBox="1"/>
          <p:nvPr/>
        </p:nvSpPr>
        <p:spPr>
          <a:xfrm>
            <a:off x="2718980" y="3794006"/>
            <a:ext cx="6558206" cy="646331"/>
          </a:xfrm>
          <a:prstGeom prst="rect">
            <a:avLst/>
          </a:prstGeom>
          <a:noFill/>
        </p:spPr>
        <p:txBody>
          <a:bodyPr wrap="none" rtlCol="0">
            <a:spAutoFit/>
          </a:bodyPr>
          <a:lstStyle/>
          <a:p>
            <a:r>
              <a:rPr lang="en-US" altLang="en-US" b="1" dirty="0">
                <a:latin typeface="Arial" panose="020B0604020202020204" pitchFamily="34" charset="0"/>
              </a:rPr>
              <a:t>Alignment Capability</a:t>
            </a:r>
            <a:r>
              <a:rPr lang="en-US" altLang="en-US" dirty="0">
                <a:latin typeface="Arial" panose="020B0604020202020204" pitchFamily="34" charset="0"/>
              </a:rPr>
              <a:t> ensures both strategies stay connected</a:t>
            </a:r>
          </a:p>
          <a:p>
            <a:endParaRPr lang="en-IN" dirty="0"/>
          </a:p>
        </p:txBody>
      </p:sp>
      <p:sp>
        <p:nvSpPr>
          <p:cNvPr id="11" name="TextBox 10">
            <a:extLst>
              <a:ext uri="{FF2B5EF4-FFF2-40B4-BE49-F238E27FC236}">
                <a16:creationId xmlns:a16="http://schemas.microsoft.com/office/drawing/2014/main" id="{2C0E8F02-1CAA-7BA3-2092-B695996A0319}"/>
              </a:ext>
            </a:extLst>
          </p:cNvPr>
          <p:cNvSpPr txBox="1"/>
          <p:nvPr/>
        </p:nvSpPr>
        <p:spPr>
          <a:xfrm>
            <a:off x="2073104" y="4589911"/>
            <a:ext cx="8045792" cy="646331"/>
          </a:xfrm>
          <a:prstGeom prst="rect">
            <a:avLst/>
          </a:prstGeom>
          <a:noFill/>
        </p:spPr>
        <p:txBody>
          <a:bodyPr wrap="none" rtlCol="0">
            <a:spAutoFit/>
          </a:bodyPr>
          <a:lstStyle/>
          <a:p>
            <a:r>
              <a:rPr lang="en-US" altLang="en-US" b="1" dirty="0">
                <a:latin typeface="Arial" panose="020B0604020202020204" pitchFamily="34" charset="0"/>
              </a:rPr>
              <a:t>IT improves business performance</a:t>
            </a:r>
            <a:r>
              <a:rPr lang="en-US" altLang="en-US" dirty="0">
                <a:latin typeface="Arial" panose="020B0604020202020204" pitchFamily="34" charset="0"/>
              </a:rPr>
              <a:t>, which shapes future business strategy</a:t>
            </a:r>
          </a:p>
          <a:p>
            <a:endParaRPr lang="en-IN" dirty="0"/>
          </a:p>
        </p:txBody>
      </p:sp>
      <p:sp>
        <p:nvSpPr>
          <p:cNvPr id="12" name="Arrow: Down 11">
            <a:extLst>
              <a:ext uri="{FF2B5EF4-FFF2-40B4-BE49-F238E27FC236}">
                <a16:creationId xmlns:a16="http://schemas.microsoft.com/office/drawing/2014/main" id="{54A705C9-B67E-AEFC-0592-E583E8D7E99D}"/>
              </a:ext>
            </a:extLst>
          </p:cNvPr>
          <p:cNvSpPr/>
          <p:nvPr/>
        </p:nvSpPr>
        <p:spPr>
          <a:xfrm>
            <a:off x="5563664" y="5055854"/>
            <a:ext cx="84761" cy="365006"/>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3" name="Arrow: Down 12">
            <a:extLst>
              <a:ext uri="{FF2B5EF4-FFF2-40B4-BE49-F238E27FC236}">
                <a16:creationId xmlns:a16="http://schemas.microsoft.com/office/drawing/2014/main" id="{4279B250-3F6A-C5A4-230B-5007EB6484DC}"/>
              </a:ext>
            </a:extLst>
          </p:cNvPr>
          <p:cNvSpPr/>
          <p:nvPr/>
        </p:nvSpPr>
        <p:spPr>
          <a:xfrm>
            <a:off x="5581899" y="4222790"/>
            <a:ext cx="84761" cy="365006"/>
          </a:xfrm>
          <a:prstGeom prst="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56306AAE-BA18-170A-6B88-91FC35F64B87}"/>
              </a:ext>
            </a:extLst>
          </p:cNvPr>
          <p:cNvSpPr txBox="1"/>
          <p:nvPr/>
        </p:nvSpPr>
        <p:spPr>
          <a:xfrm>
            <a:off x="4603205" y="5551755"/>
            <a:ext cx="2005677" cy="646331"/>
          </a:xfrm>
          <a:prstGeom prst="rect">
            <a:avLst/>
          </a:prstGeom>
          <a:noFill/>
        </p:spPr>
        <p:txBody>
          <a:bodyPr wrap="none" rtlCol="0">
            <a:spAutoFit/>
          </a:bodyPr>
          <a:lstStyle/>
          <a:p>
            <a:r>
              <a:rPr lang="en-US" altLang="en-US" dirty="0">
                <a:latin typeface="Arial" panose="020B0604020202020204" pitchFamily="34" charset="0"/>
              </a:rPr>
              <a:t>The cycle repeats</a:t>
            </a:r>
          </a:p>
          <a:p>
            <a:endParaRPr lang="en-IN" dirty="0"/>
          </a:p>
        </p:txBody>
      </p:sp>
    </p:spTree>
    <p:extLst>
      <p:ext uri="{BB962C8B-B14F-4D97-AF65-F5344CB8AC3E}">
        <p14:creationId xmlns:p14="http://schemas.microsoft.com/office/powerpoint/2010/main" val="2892626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4FFAD-8007-E37E-2B16-116E153C85D0}"/>
              </a:ext>
            </a:extLst>
          </p:cNvPr>
          <p:cNvSpPr>
            <a:spLocks noGrp="1"/>
          </p:cNvSpPr>
          <p:nvPr>
            <p:ph type="title"/>
          </p:nvPr>
        </p:nvSpPr>
        <p:spPr/>
        <p:txBody>
          <a:bodyPr/>
          <a:lstStyle/>
          <a:p>
            <a:r>
              <a:rPr lang="en-IN" b="1" dirty="0"/>
              <a:t>Different Data Types</a:t>
            </a:r>
            <a:br>
              <a:rPr lang="en-IN" b="1" dirty="0"/>
            </a:br>
            <a:endParaRPr lang="en-IN" dirty="0"/>
          </a:p>
        </p:txBody>
      </p:sp>
      <p:sp>
        <p:nvSpPr>
          <p:cNvPr id="3" name="TextBox 2">
            <a:extLst>
              <a:ext uri="{FF2B5EF4-FFF2-40B4-BE49-F238E27FC236}">
                <a16:creationId xmlns:a16="http://schemas.microsoft.com/office/drawing/2014/main" id="{D63D7AAA-900E-49D7-922C-08B121062681}"/>
              </a:ext>
            </a:extLst>
          </p:cNvPr>
          <p:cNvSpPr txBox="1"/>
          <p:nvPr/>
        </p:nvSpPr>
        <p:spPr>
          <a:xfrm>
            <a:off x="1451578" y="2140085"/>
            <a:ext cx="9603275" cy="3231654"/>
          </a:xfrm>
          <a:prstGeom prst="rect">
            <a:avLst/>
          </a:prstGeom>
          <a:noFill/>
        </p:spPr>
        <p:txBody>
          <a:bodyPr wrap="square" rtlCol="0">
            <a:spAutoFit/>
          </a:bodyPr>
          <a:lstStyle/>
          <a:p>
            <a:r>
              <a:rPr lang="en-US" dirty="0"/>
              <a:t>In today’s data-driven economy, businesses are inundated with information from thousands of sources, including CRMs, web apps, IoT devices, social media, internal systems, and third-party APIs. To make sense of this information and drive smarter decisions, organizations must understand how data is categorized and handled.</a:t>
            </a:r>
          </a:p>
          <a:p>
            <a:r>
              <a:rPr lang="en-US" dirty="0"/>
              <a:t>Broadly, data falls into three categories:</a:t>
            </a:r>
          </a:p>
          <a:p>
            <a:endParaRPr lang="en-US" dirty="0"/>
          </a:p>
          <a:p>
            <a:pPr marL="742950" lvl="1" indent="-285750">
              <a:buClr>
                <a:schemeClr val="tx1"/>
              </a:buClr>
              <a:buFont typeface="Arial" panose="020B0604020202020204" pitchFamily="34" charset="0"/>
              <a:buChar char="•"/>
            </a:pPr>
            <a:r>
              <a:rPr lang="en-US" sz="2000" b="1" dirty="0"/>
              <a:t>Structured data</a:t>
            </a:r>
          </a:p>
          <a:p>
            <a:pPr marL="742950" lvl="1" indent="-285750">
              <a:buClr>
                <a:schemeClr val="tx1"/>
              </a:buClr>
              <a:buFont typeface="Arial" panose="020B0604020202020204" pitchFamily="34" charset="0"/>
              <a:buChar char="•"/>
            </a:pPr>
            <a:r>
              <a:rPr lang="en-US" sz="2000" b="1" dirty="0"/>
              <a:t>Unstructured data</a:t>
            </a:r>
          </a:p>
          <a:p>
            <a:pPr marL="742950" lvl="1" indent="-285750">
              <a:buClr>
                <a:schemeClr val="tx1"/>
              </a:buClr>
              <a:buFont typeface="Arial" panose="020B0604020202020204" pitchFamily="34" charset="0"/>
              <a:buChar char="•"/>
            </a:pPr>
            <a:r>
              <a:rPr lang="en-US" sz="2000" b="1" dirty="0"/>
              <a:t>Semi-structured data</a:t>
            </a:r>
          </a:p>
          <a:p>
            <a:endParaRPr lang="en-US" dirty="0"/>
          </a:p>
          <a:p>
            <a:endParaRPr lang="en-IN" dirty="0"/>
          </a:p>
        </p:txBody>
      </p:sp>
    </p:spTree>
    <p:extLst>
      <p:ext uri="{BB962C8B-B14F-4D97-AF65-F5344CB8AC3E}">
        <p14:creationId xmlns:p14="http://schemas.microsoft.com/office/powerpoint/2010/main" val="1507531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C3F57D-1D98-1F11-B87E-7685685B94DD}"/>
              </a:ext>
            </a:extLst>
          </p:cNvPr>
          <p:cNvSpPr txBox="1"/>
          <p:nvPr/>
        </p:nvSpPr>
        <p:spPr>
          <a:xfrm>
            <a:off x="1274323" y="953311"/>
            <a:ext cx="10917677" cy="4924425"/>
          </a:xfrm>
          <a:prstGeom prst="rect">
            <a:avLst/>
          </a:prstGeom>
          <a:noFill/>
        </p:spPr>
        <p:txBody>
          <a:bodyPr wrap="square" rtlCol="0">
            <a:spAutoFit/>
          </a:bodyPr>
          <a:lstStyle/>
          <a:p>
            <a:pPr marL="457200" indent="-457200">
              <a:buAutoNum type="arabicPeriod"/>
            </a:pPr>
            <a:r>
              <a:rPr lang="en-IN" sz="2400" b="1" dirty="0"/>
              <a:t>Structured Data:</a:t>
            </a:r>
          </a:p>
          <a:p>
            <a:r>
              <a:rPr lang="en-IN" sz="2400" b="1" dirty="0"/>
              <a:t>		</a:t>
            </a:r>
            <a:r>
              <a:rPr lang="en-US" sz="2000" dirty="0"/>
              <a:t>Data that is </a:t>
            </a:r>
            <a:r>
              <a:rPr lang="en-US" sz="2000" b="1" dirty="0"/>
              <a:t>highly organized</a:t>
            </a:r>
            <a:r>
              <a:rPr lang="en-US" sz="2000" dirty="0"/>
              <a:t> and stored in a </a:t>
            </a:r>
            <a:r>
              <a:rPr lang="en-US" sz="2000" b="1" dirty="0"/>
              <a:t>fixed, tabular format</a:t>
            </a:r>
            <a:r>
              <a:rPr lang="en-US" sz="2000" dirty="0"/>
              <a:t> (rows &amp; columns) </a:t>
            </a:r>
          </a:p>
          <a:p>
            <a:r>
              <a:rPr lang="en-US" sz="2000" dirty="0"/>
              <a:t>so that it can be easily entered, stored, queried, and analyzed.</a:t>
            </a:r>
          </a:p>
          <a:p>
            <a:r>
              <a:rPr lang="en-US" sz="2000" b="1" dirty="0"/>
              <a:t>Examples:</a:t>
            </a:r>
          </a:p>
          <a:p>
            <a:pPr marL="342900" indent="-342900">
              <a:buClr>
                <a:schemeClr val="tx1"/>
              </a:buClr>
              <a:buFont typeface="Arial" panose="020B0604020202020204" pitchFamily="34" charset="0"/>
              <a:buChar char="•"/>
            </a:pPr>
            <a:r>
              <a:rPr lang="en-US" sz="2000" dirty="0"/>
              <a:t>Excel sheets</a:t>
            </a:r>
          </a:p>
          <a:p>
            <a:pPr marL="342900" indent="-342900">
              <a:buClr>
                <a:schemeClr val="tx1"/>
              </a:buClr>
              <a:buFont typeface="Arial" panose="020B0604020202020204" pitchFamily="34" charset="0"/>
              <a:buChar char="•"/>
            </a:pPr>
            <a:r>
              <a:rPr lang="en-US" sz="2000" dirty="0"/>
              <a:t>SQL database tables (e.g., Students table, Sales table)</a:t>
            </a:r>
          </a:p>
          <a:p>
            <a:pPr marL="342900" indent="-342900">
              <a:buClr>
                <a:schemeClr val="tx1"/>
              </a:buClr>
              <a:buFont typeface="Arial" panose="020B0604020202020204" pitchFamily="34" charset="0"/>
              <a:buChar char="•"/>
            </a:pPr>
            <a:r>
              <a:rPr lang="en-US" sz="2000" dirty="0"/>
              <a:t>Bank transaction records</a:t>
            </a:r>
          </a:p>
          <a:p>
            <a:pPr marL="342900" indent="-342900">
              <a:buClr>
                <a:schemeClr val="tx1"/>
              </a:buClr>
              <a:buFont typeface="Arial" panose="020B0604020202020204" pitchFamily="34" charset="0"/>
              <a:buChar char="•"/>
            </a:pPr>
            <a:r>
              <a:rPr lang="en-US" sz="2000" dirty="0"/>
              <a:t>Employee records (Emp ID, Name, Dept, Salary)</a:t>
            </a:r>
          </a:p>
          <a:p>
            <a:pPr marL="342900" indent="-342900">
              <a:buClr>
                <a:schemeClr val="tx1"/>
              </a:buClr>
              <a:buFont typeface="Arial" panose="020B0604020202020204" pitchFamily="34" charset="0"/>
              <a:buChar char="•"/>
            </a:pPr>
            <a:endParaRPr lang="en-IN" sz="2400" dirty="0"/>
          </a:p>
          <a:p>
            <a:r>
              <a:rPr lang="en-IN" sz="2400" b="1" dirty="0"/>
              <a:t>2. Unstructured Data:</a:t>
            </a:r>
            <a:endParaRPr lang="en-IN" sz="2400" dirty="0"/>
          </a:p>
          <a:p>
            <a:r>
              <a:rPr lang="en-US" sz="2000" dirty="0"/>
              <a:t>		Data that </a:t>
            </a:r>
            <a:r>
              <a:rPr lang="en-US" sz="2000" b="1" dirty="0"/>
              <a:t>has no predefined structure or schema</a:t>
            </a:r>
            <a:r>
              <a:rPr lang="en-US" sz="2000" dirty="0"/>
              <a:t>, and does not fit into rows and columns.</a:t>
            </a:r>
          </a:p>
          <a:p>
            <a:r>
              <a:rPr lang="en-US" sz="2000" b="1" dirty="0"/>
              <a:t>Examples</a:t>
            </a:r>
          </a:p>
          <a:p>
            <a:pPr>
              <a:buClr>
                <a:schemeClr val="tx1"/>
              </a:buClr>
              <a:buFont typeface="Wingdings" panose="05000000000000000000" pitchFamily="2" charset="2"/>
              <a:buChar char="§"/>
            </a:pPr>
            <a:r>
              <a:rPr lang="en-US" sz="2000" dirty="0"/>
              <a:t>Text documents (Word, PDFs), Images, photos, Audio files, videos, Social media posts, comments, chats, Scanned documents etc.</a:t>
            </a:r>
          </a:p>
          <a:p>
            <a:endParaRPr lang="en-IN" dirty="0"/>
          </a:p>
        </p:txBody>
      </p:sp>
    </p:spTree>
    <p:extLst>
      <p:ext uri="{BB962C8B-B14F-4D97-AF65-F5344CB8AC3E}">
        <p14:creationId xmlns:p14="http://schemas.microsoft.com/office/powerpoint/2010/main" val="1450948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07B07B8-24FF-0E0B-3391-408EFD55B352}"/>
              </a:ext>
            </a:extLst>
          </p:cNvPr>
          <p:cNvSpPr txBox="1"/>
          <p:nvPr/>
        </p:nvSpPr>
        <p:spPr>
          <a:xfrm>
            <a:off x="904672" y="671209"/>
            <a:ext cx="10269095" cy="4647426"/>
          </a:xfrm>
          <a:prstGeom prst="rect">
            <a:avLst/>
          </a:prstGeom>
          <a:noFill/>
        </p:spPr>
        <p:txBody>
          <a:bodyPr wrap="square" rtlCol="0">
            <a:spAutoFit/>
          </a:bodyPr>
          <a:lstStyle/>
          <a:p>
            <a:r>
              <a:rPr lang="en-IN" sz="2400" dirty="0"/>
              <a:t>3.</a:t>
            </a:r>
            <a:r>
              <a:rPr lang="en-IN" sz="2400" b="1" dirty="0"/>
              <a:t> Semi-structured Data:</a:t>
            </a:r>
          </a:p>
          <a:p>
            <a:endParaRPr lang="en-IN" sz="2400" b="1" dirty="0"/>
          </a:p>
          <a:p>
            <a:r>
              <a:rPr lang="en-US" sz="2000" dirty="0"/>
              <a:t>Data that </a:t>
            </a:r>
            <a:r>
              <a:rPr lang="en-US" sz="2000" b="1" dirty="0"/>
              <a:t>does not follow a strict tabular format</a:t>
            </a:r>
            <a:r>
              <a:rPr lang="en-US" sz="2000" dirty="0"/>
              <a:t>, but still has </a:t>
            </a:r>
            <a:r>
              <a:rPr lang="en-US" sz="2000" b="1" dirty="0"/>
              <a:t>some organizational structure</a:t>
            </a:r>
            <a:r>
              <a:rPr lang="en-US" sz="2000" dirty="0"/>
              <a:t> using tags or markers.</a:t>
            </a:r>
          </a:p>
          <a:p>
            <a:endParaRPr lang="en-US" sz="2000" dirty="0"/>
          </a:p>
          <a:p>
            <a:r>
              <a:rPr lang="en-US" sz="2000" b="1" dirty="0"/>
              <a:t>Examples:</a:t>
            </a:r>
          </a:p>
          <a:p>
            <a:endParaRPr lang="en-US" sz="2000" b="1" dirty="0"/>
          </a:p>
          <a:p>
            <a:pPr marL="342900" indent="-342900">
              <a:buClr>
                <a:schemeClr val="tx1"/>
              </a:buClr>
              <a:buFont typeface="Arial" panose="020B0604020202020204" pitchFamily="34" charset="0"/>
              <a:buChar char="•"/>
            </a:pPr>
            <a:r>
              <a:rPr lang="en-US" sz="2000" dirty="0"/>
              <a:t>JSON files</a:t>
            </a:r>
          </a:p>
          <a:p>
            <a:pPr marL="342900" indent="-342900">
              <a:buClr>
                <a:schemeClr val="tx1"/>
              </a:buClr>
              <a:buFont typeface="Arial" panose="020B0604020202020204" pitchFamily="34" charset="0"/>
              <a:buChar char="•"/>
            </a:pPr>
            <a:r>
              <a:rPr lang="en-US" sz="2000" dirty="0"/>
              <a:t>XML files</a:t>
            </a:r>
          </a:p>
          <a:p>
            <a:pPr marL="342900" indent="-342900">
              <a:buClr>
                <a:schemeClr val="tx1"/>
              </a:buClr>
              <a:buFont typeface="Arial" panose="020B0604020202020204" pitchFamily="34" charset="0"/>
              <a:buChar char="•"/>
            </a:pPr>
            <a:r>
              <a:rPr lang="en-US" sz="2000" dirty="0"/>
              <a:t>HTML pages</a:t>
            </a:r>
          </a:p>
          <a:p>
            <a:pPr marL="342900" indent="-342900">
              <a:buClr>
                <a:schemeClr val="tx1"/>
              </a:buClr>
              <a:buFont typeface="Arial" panose="020B0604020202020204" pitchFamily="34" charset="0"/>
              <a:buChar char="•"/>
            </a:pPr>
            <a:r>
              <a:rPr lang="en-US" sz="2000" dirty="0"/>
              <a:t>Emails (subject, from, to, body – some structure + free text)</a:t>
            </a:r>
          </a:p>
          <a:p>
            <a:pPr marL="342900" indent="-342900">
              <a:buClr>
                <a:schemeClr val="tx1"/>
              </a:buClr>
              <a:buFont typeface="Arial" panose="020B0604020202020204" pitchFamily="34" charset="0"/>
              <a:buChar char="•"/>
            </a:pPr>
            <a:r>
              <a:rPr lang="en-US" sz="2000" dirty="0"/>
              <a:t>NoSQL databases (like MongoDB documents)</a:t>
            </a:r>
          </a:p>
          <a:p>
            <a:endParaRPr lang="en-US" sz="2000" dirty="0"/>
          </a:p>
          <a:p>
            <a:endParaRPr lang="en-IN" sz="2400" dirty="0"/>
          </a:p>
        </p:txBody>
      </p:sp>
    </p:spTree>
    <p:extLst>
      <p:ext uri="{BB962C8B-B14F-4D97-AF65-F5344CB8AC3E}">
        <p14:creationId xmlns:p14="http://schemas.microsoft.com/office/powerpoint/2010/main" val="1634770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87872-AC11-7798-0347-979E2CB7E99F}"/>
              </a:ext>
            </a:extLst>
          </p:cNvPr>
          <p:cNvSpPr>
            <a:spLocks noGrp="1"/>
          </p:cNvSpPr>
          <p:nvPr>
            <p:ph type="title"/>
          </p:nvPr>
        </p:nvSpPr>
        <p:spPr/>
        <p:txBody>
          <a:bodyPr/>
          <a:lstStyle/>
          <a:p>
            <a:r>
              <a:rPr lang="en-IN" dirty="0"/>
              <a:t>Common Data Sources</a:t>
            </a:r>
          </a:p>
        </p:txBody>
      </p:sp>
      <p:sp>
        <p:nvSpPr>
          <p:cNvPr id="3" name="TextBox 2">
            <a:extLst>
              <a:ext uri="{FF2B5EF4-FFF2-40B4-BE49-F238E27FC236}">
                <a16:creationId xmlns:a16="http://schemas.microsoft.com/office/drawing/2014/main" id="{E0B304FE-DAEB-980D-C904-41ED90678F9C}"/>
              </a:ext>
            </a:extLst>
          </p:cNvPr>
          <p:cNvSpPr txBox="1"/>
          <p:nvPr/>
        </p:nvSpPr>
        <p:spPr>
          <a:xfrm>
            <a:off x="1294363" y="2169268"/>
            <a:ext cx="9979994" cy="923330"/>
          </a:xfrm>
          <a:prstGeom prst="rect">
            <a:avLst/>
          </a:prstGeom>
          <a:noFill/>
        </p:spPr>
        <p:txBody>
          <a:bodyPr wrap="square" rtlCol="0">
            <a:spAutoFit/>
          </a:bodyPr>
          <a:lstStyle/>
          <a:p>
            <a:r>
              <a:rPr lang="en-US" dirty="0"/>
              <a:t>Organizations use different </a:t>
            </a:r>
            <a:r>
              <a:rPr lang="en-US" b="1" dirty="0"/>
              <a:t>data sources</a:t>
            </a:r>
            <a:r>
              <a:rPr lang="en-US" dirty="0"/>
              <a:t> for analysis and decision-making. These include </a:t>
            </a:r>
            <a:r>
              <a:rPr lang="en-US" b="1" dirty="0"/>
              <a:t>internal data, third-party analytics, external data, and open data</a:t>
            </a:r>
            <a:r>
              <a:rPr lang="en-US" dirty="0"/>
              <a:t>.</a:t>
            </a:r>
          </a:p>
          <a:p>
            <a:endParaRPr lang="en-IN" dirty="0"/>
          </a:p>
        </p:txBody>
      </p:sp>
      <p:sp>
        <p:nvSpPr>
          <p:cNvPr id="4" name="TextBox 3">
            <a:extLst>
              <a:ext uri="{FF2B5EF4-FFF2-40B4-BE49-F238E27FC236}">
                <a16:creationId xmlns:a16="http://schemas.microsoft.com/office/drawing/2014/main" id="{1C06683C-07B0-03A1-E1C5-B0D0364FD9C1}"/>
              </a:ext>
            </a:extLst>
          </p:cNvPr>
          <p:cNvSpPr txBox="1"/>
          <p:nvPr/>
        </p:nvSpPr>
        <p:spPr>
          <a:xfrm>
            <a:off x="1451579" y="3229583"/>
            <a:ext cx="4180736" cy="2954655"/>
          </a:xfrm>
          <a:prstGeom prst="rect">
            <a:avLst/>
          </a:prstGeom>
          <a:noFill/>
        </p:spPr>
        <p:txBody>
          <a:bodyPr wrap="square" rtlCol="0">
            <a:spAutoFit/>
          </a:bodyPr>
          <a:lstStyle/>
          <a:p>
            <a:r>
              <a:rPr lang="en-IN" sz="2400" b="1" u="sng" dirty="0"/>
              <a:t>Internal Data:</a:t>
            </a:r>
          </a:p>
          <a:p>
            <a:endParaRPr lang="en-IN" b="1" dirty="0"/>
          </a:p>
          <a:p>
            <a:pPr marL="285750" indent="-285750">
              <a:buClr>
                <a:schemeClr val="tx1"/>
              </a:buClr>
              <a:buFont typeface="Arial" panose="020B0604020202020204" pitchFamily="34" charset="0"/>
              <a:buChar char="•"/>
            </a:pPr>
            <a:r>
              <a:rPr lang="en-US" dirty="0"/>
              <a:t>Usually stored in </a:t>
            </a:r>
            <a:r>
              <a:rPr lang="en-US" b="1" dirty="0"/>
              <a:t>internal databases</a:t>
            </a:r>
            <a:r>
              <a:rPr lang="en-US" dirty="0"/>
              <a:t>, ERP, CRM, HR systems.</a:t>
            </a:r>
          </a:p>
          <a:p>
            <a:pPr marL="285750" indent="-285750">
              <a:buClr>
                <a:schemeClr val="tx1"/>
              </a:buClr>
              <a:buFont typeface="Arial" panose="020B0604020202020204" pitchFamily="34" charset="0"/>
              <a:buChar char="•"/>
            </a:pPr>
            <a:r>
              <a:rPr lang="en-US" dirty="0"/>
              <a:t>Considered </a:t>
            </a:r>
            <a:r>
              <a:rPr lang="en-US" b="1" dirty="0"/>
              <a:t>reliable and confidential</a:t>
            </a:r>
            <a:r>
              <a:rPr lang="en-US" dirty="0"/>
              <a:t>.</a:t>
            </a:r>
          </a:p>
          <a:p>
            <a:pPr marL="285750" indent="-285750">
              <a:buClr>
                <a:schemeClr val="tx1"/>
              </a:buClr>
              <a:buFont typeface="Arial" panose="020B0604020202020204" pitchFamily="34" charset="0"/>
              <a:buChar char="•"/>
            </a:pPr>
            <a:r>
              <a:rPr lang="en-US" dirty="0"/>
              <a:t>Main source for </a:t>
            </a:r>
            <a:r>
              <a:rPr lang="en-US" b="1" dirty="0"/>
              <a:t>management reports, KPIs, and performance analysis</a:t>
            </a:r>
            <a:r>
              <a:rPr lang="en-US" dirty="0"/>
              <a:t>.</a:t>
            </a:r>
          </a:p>
          <a:p>
            <a:endParaRPr lang="en-IN" b="1" dirty="0"/>
          </a:p>
        </p:txBody>
      </p:sp>
      <p:sp>
        <p:nvSpPr>
          <p:cNvPr id="5" name="TextBox 4">
            <a:extLst>
              <a:ext uri="{FF2B5EF4-FFF2-40B4-BE49-F238E27FC236}">
                <a16:creationId xmlns:a16="http://schemas.microsoft.com/office/drawing/2014/main" id="{71BF124C-BD3F-E6B9-4134-CC3FA577A774}"/>
              </a:ext>
            </a:extLst>
          </p:cNvPr>
          <p:cNvSpPr txBox="1"/>
          <p:nvPr/>
        </p:nvSpPr>
        <p:spPr>
          <a:xfrm>
            <a:off x="6559687" y="3552748"/>
            <a:ext cx="3983655" cy="2308324"/>
          </a:xfrm>
          <a:prstGeom prst="rect">
            <a:avLst/>
          </a:prstGeom>
          <a:noFill/>
        </p:spPr>
        <p:txBody>
          <a:bodyPr wrap="none" rtlCol="0">
            <a:spAutoFit/>
          </a:bodyPr>
          <a:lstStyle/>
          <a:p>
            <a:r>
              <a:rPr lang="en-US" b="1" dirty="0"/>
              <a:t>Examples:</a:t>
            </a:r>
          </a:p>
          <a:p>
            <a:endParaRPr lang="en-US" dirty="0"/>
          </a:p>
          <a:p>
            <a:pPr marL="285750" indent="-285750">
              <a:buClr>
                <a:schemeClr val="tx1"/>
              </a:buClr>
              <a:buFont typeface="Arial" panose="020B0604020202020204" pitchFamily="34" charset="0"/>
              <a:buChar char="•"/>
            </a:pPr>
            <a:r>
              <a:rPr lang="en-US" dirty="0"/>
              <a:t>Sales records, invoices, billing data</a:t>
            </a:r>
          </a:p>
          <a:p>
            <a:pPr marL="285750" indent="-285750">
              <a:buClr>
                <a:schemeClr val="tx1"/>
              </a:buClr>
              <a:buFont typeface="Arial" panose="020B0604020202020204" pitchFamily="34" charset="0"/>
              <a:buChar char="•"/>
            </a:pPr>
            <a:r>
              <a:rPr lang="en-US" dirty="0"/>
              <a:t>Customer details from CRM</a:t>
            </a:r>
          </a:p>
          <a:p>
            <a:pPr marL="285750" indent="-285750">
              <a:buClr>
                <a:schemeClr val="tx1"/>
              </a:buClr>
              <a:buFont typeface="Arial" panose="020B0604020202020204" pitchFamily="34" charset="0"/>
              <a:buChar char="•"/>
            </a:pPr>
            <a:r>
              <a:rPr lang="en-US" dirty="0"/>
              <a:t>Employee records, attendance, payroll</a:t>
            </a:r>
          </a:p>
          <a:p>
            <a:pPr marL="285750" indent="-285750">
              <a:buClr>
                <a:schemeClr val="tx1"/>
              </a:buClr>
              <a:buFont typeface="Arial" panose="020B0604020202020204" pitchFamily="34" charset="0"/>
              <a:buChar char="•"/>
            </a:pPr>
            <a:r>
              <a:rPr lang="en-US" dirty="0"/>
              <a:t>Inventory and stock levels</a:t>
            </a:r>
          </a:p>
          <a:p>
            <a:pPr marL="285750" indent="-285750">
              <a:buClr>
                <a:schemeClr val="tx1"/>
              </a:buClr>
              <a:buFont typeface="Arial" panose="020B0604020202020204" pitchFamily="34" charset="0"/>
              <a:buChar char="•"/>
            </a:pPr>
            <a:r>
              <a:rPr lang="en-US" dirty="0"/>
              <a:t>Production and logistics data</a:t>
            </a:r>
          </a:p>
          <a:p>
            <a:endParaRPr lang="en-IN" dirty="0"/>
          </a:p>
        </p:txBody>
      </p:sp>
    </p:spTree>
    <p:extLst>
      <p:ext uri="{BB962C8B-B14F-4D97-AF65-F5344CB8AC3E}">
        <p14:creationId xmlns:p14="http://schemas.microsoft.com/office/powerpoint/2010/main" val="4237065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21D5DA2-BECF-B574-CD05-1A53DD6EA129}"/>
              </a:ext>
            </a:extLst>
          </p:cNvPr>
          <p:cNvSpPr txBox="1"/>
          <p:nvPr/>
        </p:nvSpPr>
        <p:spPr>
          <a:xfrm>
            <a:off x="814692" y="686480"/>
            <a:ext cx="4934355" cy="4770537"/>
          </a:xfrm>
          <a:prstGeom prst="rect">
            <a:avLst/>
          </a:prstGeom>
          <a:noFill/>
        </p:spPr>
        <p:txBody>
          <a:bodyPr wrap="square">
            <a:spAutoFit/>
          </a:bodyPr>
          <a:lstStyle/>
          <a:p>
            <a:pPr marL="0" indent="0">
              <a:lnSpc>
                <a:spcPct val="150000"/>
              </a:lnSpc>
              <a:buNone/>
            </a:pPr>
            <a:r>
              <a:rPr lang="en-IN" sz="2400" b="1" u="sng" dirty="0">
                <a:solidFill>
                  <a:schemeClr val="tx1"/>
                </a:solidFill>
              </a:rPr>
              <a:t>External Data: </a:t>
            </a:r>
            <a:endParaRPr lang="en-IN" sz="2400" b="1" u="sng" dirty="0"/>
          </a:p>
          <a:p>
            <a:pPr marL="285750" indent="-285750">
              <a:buClr>
                <a:schemeClr val="tx1"/>
              </a:buClr>
              <a:buFont typeface="Arial" panose="020B0604020202020204" pitchFamily="34" charset="0"/>
              <a:buChar char="•"/>
            </a:pPr>
            <a:r>
              <a:rPr lang="en-US" sz="2000" dirty="0"/>
              <a:t>Used to understand the business environment and competition.</a:t>
            </a:r>
          </a:p>
          <a:p>
            <a:pPr marL="285750" indent="-285750">
              <a:buClr>
                <a:schemeClr val="tx1"/>
              </a:buClr>
              <a:buFont typeface="Arial" panose="020B0604020202020204" pitchFamily="34" charset="0"/>
              <a:buChar char="•"/>
            </a:pPr>
            <a:r>
              <a:rPr lang="en-US" sz="2000" dirty="0"/>
              <a:t>Often obtained through subscriptions, data vendors, industry bodies.</a:t>
            </a:r>
          </a:p>
          <a:p>
            <a:pPr marL="285750" indent="-285750">
              <a:buClr>
                <a:schemeClr val="tx1"/>
              </a:buClr>
              <a:buFont typeface="Arial" panose="020B0604020202020204" pitchFamily="34" charset="0"/>
              <a:buChar char="•"/>
            </a:pPr>
            <a:r>
              <a:rPr lang="en-US" sz="2000" dirty="0"/>
              <a:t>Complements internal data for better forecasting and strategy.</a:t>
            </a:r>
          </a:p>
          <a:p>
            <a:pPr marL="285750" indent="-285750">
              <a:buClr>
                <a:schemeClr val="tx1"/>
              </a:buClr>
              <a:buFont typeface="Arial" panose="020B0604020202020204" pitchFamily="34" charset="0"/>
              <a:buChar char="•"/>
            </a:pPr>
            <a:endParaRPr lang="en-US" dirty="0"/>
          </a:p>
          <a:p>
            <a:pPr marL="0" indent="0">
              <a:lnSpc>
                <a:spcPct val="150000"/>
              </a:lnSpc>
              <a:buNone/>
            </a:pPr>
            <a:r>
              <a:rPr lang="en-US" sz="2000" b="1" dirty="0">
                <a:solidFill>
                  <a:schemeClr val="tx1"/>
                </a:solidFill>
              </a:rPr>
              <a:t>Examples:</a:t>
            </a:r>
            <a:endParaRPr lang="en-US" sz="2000" dirty="0">
              <a:solidFill>
                <a:schemeClr val="tx1"/>
              </a:solidFill>
            </a:endParaRPr>
          </a:p>
          <a:p>
            <a:pPr marL="285750" indent="-285750">
              <a:buClr>
                <a:schemeClr val="tx1"/>
              </a:buClr>
              <a:buFont typeface="Arial" panose="020B0604020202020204" pitchFamily="34" charset="0"/>
              <a:buChar char="•"/>
            </a:pPr>
            <a:r>
              <a:rPr lang="en-US" sz="2000" dirty="0">
                <a:solidFill>
                  <a:schemeClr val="tx1"/>
                </a:solidFill>
              </a:rPr>
              <a:t>Market trends and competitor information</a:t>
            </a:r>
          </a:p>
          <a:p>
            <a:pPr marL="285750" indent="-285750">
              <a:buClr>
                <a:schemeClr val="tx1"/>
              </a:buClr>
              <a:buFont typeface="Arial" panose="020B0604020202020204" pitchFamily="34" charset="0"/>
              <a:buChar char="•"/>
            </a:pPr>
            <a:r>
              <a:rPr lang="en-US" sz="2000" dirty="0">
                <a:solidFill>
                  <a:schemeClr val="tx1"/>
                </a:solidFill>
              </a:rPr>
              <a:t>Customer demographics from external agencies</a:t>
            </a:r>
          </a:p>
          <a:p>
            <a:pPr marL="285750" indent="-285750">
              <a:buClr>
                <a:schemeClr val="tx1"/>
              </a:buClr>
              <a:buFont typeface="Arial" panose="020B0604020202020204" pitchFamily="34" charset="0"/>
              <a:buChar char="•"/>
            </a:pPr>
            <a:r>
              <a:rPr lang="en-US" sz="2000" dirty="0">
                <a:solidFill>
                  <a:schemeClr val="tx1"/>
                </a:solidFill>
              </a:rPr>
              <a:t>Industry reports and statistics</a:t>
            </a:r>
          </a:p>
          <a:p>
            <a:pPr marL="285750" indent="-285750">
              <a:buClr>
                <a:schemeClr val="tx1"/>
              </a:buClr>
              <a:buFont typeface="Arial" panose="020B0604020202020204" pitchFamily="34" charset="0"/>
              <a:buChar char="•"/>
            </a:pPr>
            <a:r>
              <a:rPr lang="en-US" sz="2000" dirty="0">
                <a:solidFill>
                  <a:schemeClr val="tx1"/>
                </a:solidFill>
              </a:rPr>
              <a:t>Supplier and vendor data</a:t>
            </a:r>
          </a:p>
        </p:txBody>
      </p:sp>
    </p:spTree>
    <p:extLst>
      <p:ext uri="{BB962C8B-B14F-4D97-AF65-F5344CB8AC3E}">
        <p14:creationId xmlns:p14="http://schemas.microsoft.com/office/powerpoint/2010/main" val="2175876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24A3F1-8442-9661-EFB5-03EF164F3839}"/>
              </a:ext>
            </a:extLst>
          </p:cNvPr>
          <p:cNvSpPr txBox="1"/>
          <p:nvPr/>
        </p:nvSpPr>
        <p:spPr>
          <a:xfrm>
            <a:off x="785508" y="624645"/>
            <a:ext cx="10712586" cy="5078313"/>
          </a:xfrm>
          <a:prstGeom prst="rect">
            <a:avLst/>
          </a:prstGeom>
          <a:noFill/>
        </p:spPr>
        <p:txBody>
          <a:bodyPr wrap="square">
            <a:spAutoFit/>
          </a:bodyPr>
          <a:lstStyle/>
          <a:p>
            <a:pPr marL="0" indent="0">
              <a:lnSpc>
                <a:spcPct val="150000"/>
              </a:lnSpc>
              <a:buNone/>
            </a:pPr>
            <a:r>
              <a:rPr lang="en-IN" sz="2400" b="1" u="sng" dirty="0">
                <a:solidFill>
                  <a:schemeClr val="tx1"/>
                </a:solidFill>
              </a:rPr>
              <a:t>Third-Party Analytics: </a:t>
            </a:r>
          </a:p>
          <a:p>
            <a:pPr marL="0" indent="0">
              <a:lnSpc>
                <a:spcPct val="150000"/>
              </a:lnSpc>
              <a:buNone/>
            </a:pPr>
            <a:r>
              <a:rPr lang="en-IN" sz="2400" b="1" dirty="0"/>
              <a:t>	</a:t>
            </a:r>
            <a:r>
              <a:rPr lang="en-US" sz="1800" dirty="0">
                <a:solidFill>
                  <a:schemeClr val="tx1"/>
                </a:solidFill>
              </a:rPr>
              <a:t>Third-party analytics refers to </a:t>
            </a:r>
            <a:r>
              <a:rPr lang="en-US" sz="1800" b="1" dirty="0">
                <a:solidFill>
                  <a:schemeClr val="tx1"/>
                </a:solidFill>
              </a:rPr>
              <a:t>data and insights provided by external analytics service providers</a:t>
            </a:r>
            <a:r>
              <a:rPr lang="en-US" sz="1800" dirty="0">
                <a:solidFill>
                  <a:schemeClr val="tx1"/>
                </a:solidFill>
              </a:rPr>
              <a:t> or platforms that collect and analyze data on behalf of many clients.</a:t>
            </a:r>
          </a:p>
          <a:p>
            <a:pPr marL="0" indent="0">
              <a:lnSpc>
                <a:spcPct val="150000"/>
              </a:lnSpc>
              <a:buNone/>
            </a:pPr>
            <a:endParaRPr lang="en-US" sz="1800" dirty="0">
              <a:solidFill>
                <a:schemeClr val="tx1"/>
              </a:solidFill>
            </a:endParaRPr>
          </a:p>
          <a:p>
            <a:r>
              <a:rPr lang="en-US" b="1" dirty="0"/>
              <a:t>Key Points:</a:t>
            </a:r>
            <a:endParaRPr lang="en-US" dirty="0"/>
          </a:p>
          <a:p>
            <a:pPr marL="742950" lvl="1" indent="-285750">
              <a:buClr>
                <a:schemeClr val="tx1"/>
              </a:buClr>
              <a:buFont typeface="Arial" panose="020B0604020202020204" pitchFamily="34" charset="0"/>
              <a:buChar char="•"/>
            </a:pPr>
            <a:r>
              <a:rPr lang="en-US" dirty="0"/>
              <a:t>Helps organizations understand user behaviors, marketing performance, trends.</a:t>
            </a:r>
          </a:p>
          <a:p>
            <a:pPr marL="742950" lvl="1" indent="-285750">
              <a:buClr>
                <a:schemeClr val="tx1"/>
              </a:buClr>
              <a:buFont typeface="Arial" panose="020B0604020202020204" pitchFamily="34" charset="0"/>
              <a:buChar char="•"/>
            </a:pPr>
            <a:r>
              <a:rPr lang="en-US" dirty="0"/>
              <a:t>Often provided via dashboards, reports, or APIs.</a:t>
            </a:r>
          </a:p>
          <a:p>
            <a:pPr marL="742950" lvl="1" indent="-285750">
              <a:buClr>
                <a:schemeClr val="tx1"/>
              </a:buClr>
              <a:buFont typeface="Arial" panose="020B0604020202020204" pitchFamily="34" charset="0"/>
              <a:buChar char="•"/>
            </a:pPr>
            <a:r>
              <a:rPr lang="en-US" dirty="0"/>
              <a:t>Useful when a company doesn’t have its own advanced analytics tools.</a:t>
            </a:r>
          </a:p>
          <a:p>
            <a:pPr marL="285750" indent="-285750">
              <a:buClr>
                <a:schemeClr val="tx1"/>
              </a:buClr>
              <a:buFont typeface="Arial" panose="020B0604020202020204" pitchFamily="34" charset="0"/>
              <a:buChar char="•"/>
            </a:pPr>
            <a:endParaRPr lang="en-US" sz="1800" dirty="0">
              <a:solidFill>
                <a:schemeClr val="tx1"/>
              </a:solidFill>
            </a:endParaRPr>
          </a:p>
          <a:p>
            <a:pPr marL="0" indent="0">
              <a:buNone/>
            </a:pPr>
            <a:r>
              <a:rPr lang="en-US" sz="1800" b="1" dirty="0">
                <a:solidFill>
                  <a:schemeClr val="tx1"/>
                </a:solidFill>
              </a:rPr>
              <a:t>Examples:</a:t>
            </a:r>
            <a:endParaRPr lang="en-US" sz="1800" dirty="0">
              <a:solidFill>
                <a:schemeClr val="tx1"/>
              </a:solidFill>
            </a:endParaRPr>
          </a:p>
          <a:p>
            <a:pPr marL="742950" lvl="1" indent="-285750">
              <a:buClr>
                <a:schemeClr val="tx1"/>
              </a:buClr>
              <a:buFont typeface="Arial" panose="020B0604020202020204" pitchFamily="34" charset="0"/>
              <a:buChar char="•"/>
            </a:pPr>
            <a:r>
              <a:rPr lang="en-US" dirty="0">
                <a:solidFill>
                  <a:schemeClr val="tx1"/>
                </a:solidFill>
              </a:rPr>
              <a:t>Website traffic data from tools like Google Analytics</a:t>
            </a:r>
          </a:p>
          <a:p>
            <a:pPr marL="742950" lvl="1" indent="-285750">
              <a:buClr>
                <a:schemeClr val="tx1"/>
              </a:buClr>
              <a:buFont typeface="Arial" panose="020B0604020202020204" pitchFamily="34" charset="0"/>
              <a:buChar char="•"/>
            </a:pPr>
            <a:r>
              <a:rPr lang="en-US" dirty="0">
                <a:solidFill>
                  <a:schemeClr val="tx1"/>
                </a:solidFill>
              </a:rPr>
              <a:t>Social media analytics from platforms or marketing tools</a:t>
            </a:r>
          </a:p>
          <a:p>
            <a:pPr marL="742950" lvl="1" indent="-285750">
              <a:buClr>
                <a:schemeClr val="tx1"/>
              </a:buClr>
              <a:buFont typeface="Arial" panose="020B0604020202020204" pitchFamily="34" charset="0"/>
              <a:buChar char="•"/>
            </a:pPr>
            <a:r>
              <a:rPr lang="en-US" dirty="0">
                <a:solidFill>
                  <a:schemeClr val="tx1"/>
                </a:solidFill>
              </a:rPr>
              <a:t>Market research reports bought from research firms</a:t>
            </a:r>
          </a:p>
          <a:p>
            <a:pPr marL="742950" lvl="1" indent="-285750">
              <a:buClr>
                <a:schemeClr val="tx1"/>
              </a:buClr>
              <a:buFont typeface="Arial" panose="020B0604020202020204" pitchFamily="34" charset="0"/>
              <a:buChar char="•"/>
            </a:pPr>
            <a:r>
              <a:rPr lang="en-US" dirty="0">
                <a:solidFill>
                  <a:schemeClr val="tx1"/>
                </a:solidFill>
              </a:rPr>
              <a:t>Advertising performance data from ad platforms</a:t>
            </a:r>
          </a:p>
          <a:p>
            <a:pPr marL="0" indent="0">
              <a:buNone/>
            </a:pPr>
            <a:endParaRPr lang="en-US" sz="1800" dirty="0">
              <a:solidFill>
                <a:schemeClr val="tx1"/>
              </a:solidFill>
            </a:endParaRPr>
          </a:p>
        </p:txBody>
      </p:sp>
    </p:spTree>
    <p:extLst>
      <p:ext uri="{BB962C8B-B14F-4D97-AF65-F5344CB8AC3E}">
        <p14:creationId xmlns:p14="http://schemas.microsoft.com/office/powerpoint/2010/main" val="3890365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5C4D92-A794-EE8D-1583-7FA9768164ED}"/>
              </a:ext>
            </a:extLst>
          </p:cNvPr>
          <p:cNvSpPr txBox="1"/>
          <p:nvPr/>
        </p:nvSpPr>
        <p:spPr>
          <a:xfrm>
            <a:off x="671209" y="632062"/>
            <a:ext cx="10554510" cy="5078313"/>
          </a:xfrm>
          <a:prstGeom prst="rect">
            <a:avLst/>
          </a:prstGeom>
          <a:noFill/>
        </p:spPr>
        <p:txBody>
          <a:bodyPr wrap="square">
            <a:spAutoFit/>
          </a:bodyPr>
          <a:lstStyle/>
          <a:p>
            <a:pPr marL="0" indent="0">
              <a:lnSpc>
                <a:spcPct val="150000"/>
              </a:lnSpc>
              <a:buNone/>
            </a:pPr>
            <a:r>
              <a:rPr lang="en-IN" sz="2400" b="1" u="sng" dirty="0">
                <a:solidFill>
                  <a:schemeClr val="tx1"/>
                </a:solidFill>
              </a:rPr>
              <a:t>Open Data</a:t>
            </a:r>
            <a:r>
              <a:rPr lang="en-IN" sz="2400" b="1" dirty="0">
                <a:solidFill>
                  <a:schemeClr val="tx1"/>
                </a:solidFill>
              </a:rPr>
              <a:t>:</a:t>
            </a:r>
            <a:endParaRPr lang="en-IN" sz="2400" b="1" u="sng" dirty="0">
              <a:solidFill>
                <a:schemeClr val="tx1"/>
              </a:solidFill>
            </a:endParaRPr>
          </a:p>
          <a:p>
            <a:pPr marL="0" indent="0">
              <a:lnSpc>
                <a:spcPct val="150000"/>
              </a:lnSpc>
              <a:buNone/>
            </a:pPr>
            <a:r>
              <a:rPr lang="en-US" sz="1800" dirty="0">
                <a:solidFill>
                  <a:schemeClr val="tx1"/>
                </a:solidFill>
              </a:rPr>
              <a:t>	Open data is data that is </a:t>
            </a:r>
            <a:r>
              <a:rPr lang="en-US" sz="1800" b="1" dirty="0">
                <a:solidFill>
                  <a:schemeClr val="tx1"/>
                </a:solidFill>
              </a:rPr>
              <a:t>freely available to everyone</a:t>
            </a:r>
            <a:r>
              <a:rPr lang="en-US" sz="1800" dirty="0">
                <a:solidFill>
                  <a:schemeClr val="tx1"/>
                </a:solidFill>
              </a:rPr>
              <a:t> to use, reuse, and share, usually published by </a:t>
            </a:r>
            <a:r>
              <a:rPr lang="en-US" sz="1800" b="1" dirty="0">
                <a:solidFill>
                  <a:schemeClr val="tx1"/>
                </a:solidFill>
              </a:rPr>
              <a:t>governments, public organizations, or international bodies</a:t>
            </a:r>
            <a:r>
              <a:rPr lang="en-US" sz="1800" dirty="0">
                <a:solidFill>
                  <a:schemeClr val="tx1"/>
                </a:solidFill>
              </a:rPr>
              <a:t>.</a:t>
            </a:r>
          </a:p>
          <a:p>
            <a:pPr marL="0" indent="0">
              <a:lnSpc>
                <a:spcPct val="150000"/>
              </a:lnSpc>
              <a:buNone/>
            </a:pPr>
            <a:endParaRPr lang="en-US" sz="1800" dirty="0">
              <a:solidFill>
                <a:schemeClr val="tx1"/>
              </a:solidFill>
            </a:endParaRPr>
          </a:p>
          <a:p>
            <a:r>
              <a:rPr lang="en-US" b="1" dirty="0"/>
              <a:t>Key Points:</a:t>
            </a:r>
            <a:endParaRPr lang="en-US" dirty="0"/>
          </a:p>
          <a:p>
            <a:pPr marL="742950" lvl="1" indent="-285750">
              <a:buClr>
                <a:schemeClr val="tx1"/>
              </a:buClr>
              <a:buFont typeface="Arial" panose="020B0604020202020204" pitchFamily="34" charset="0"/>
              <a:buChar char="•"/>
            </a:pPr>
            <a:r>
              <a:rPr lang="en-US" dirty="0"/>
              <a:t>Generally free or low-cost.</a:t>
            </a:r>
          </a:p>
          <a:p>
            <a:pPr marL="742950" lvl="1" indent="-285750">
              <a:buClr>
                <a:schemeClr val="tx1"/>
              </a:buClr>
              <a:buFont typeface="Arial" panose="020B0604020202020204" pitchFamily="34" charset="0"/>
              <a:buChar char="•"/>
            </a:pPr>
            <a:r>
              <a:rPr lang="en-US" dirty="0"/>
              <a:t>Promotes research, innovation, transparency, and public services.</a:t>
            </a:r>
          </a:p>
          <a:p>
            <a:pPr marL="742950" lvl="1" indent="-285750">
              <a:buClr>
                <a:schemeClr val="tx1"/>
              </a:buClr>
              <a:buFont typeface="Arial" panose="020B0604020202020204" pitchFamily="34" charset="0"/>
              <a:buChar char="•"/>
            </a:pPr>
            <a:r>
              <a:rPr lang="en-US" dirty="0"/>
              <a:t>Can be combined with internal data for deeper analysis and insights.</a:t>
            </a:r>
          </a:p>
          <a:p>
            <a:pPr marL="0" indent="0">
              <a:lnSpc>
                <a:spcPct val="150000"/>
              </a:lnSpc>
              <a:buNone/>
            </a:pPr>
            <a:endParaRPr lang="en-US" sz="1800" dirty="0">
              <a:solidFill>
                <a:schemeClr val="tx1"/>
              </a:solidFill>
            </a:endParaRPr>
          </a:p>
          <a:p>
            <a:pPr marL="0" indent="0">
              <a:buNone/>
            </a:pPr>
            <a:r>
              <a:rPr lang="en-US" sz="1800" b="1" dirty="0">
                <a:solidFill>
                  <a:schemeClr val="tx1"/>
                </a:solidFill>
              </a:rPr>
              <a:t>Examples:</a:t>
            </a:r>
            <a:endParaRPr lang="en-US" sz="1800" dirty="0">
              <a:solidFill>
                <a:schemeClr val="tx1"/>
              </a:solidFill>
            </a:endParaRPr>
          </a:p>
          <a:p>
            <a:pPr marL="742950" lvl="1" indent="-285750">
              <a:buClr>
                <a:schemeClr val="tx1"/>
              </a:buClr>
              <a:buFont typeface="Arial" panose="020B0604020202020204" pitchFamily="34" charset="0"/>
              <a:buChar char="•"/>
            </a:pPr>
            <a:r>
              <a:rPr lang="en-US" dirty="0">
                <a:solidFill>
                  <a:schemeClr val="tx1"/>
                </a:solidFill>
              </a:rPr>
              <a:t>Government census data</a:t>
            </a:r>
          </a:p>
          <a:p>
            <a:pPr marL="742950" lvl="1" indent="-285750">
              <a:buClr>
                <a:schemeClr val="tx1"/>
              </a:buClr>
              <a:buFont typeface="Arial" panose="020B0604020202020204" pitchFamily="34" charset="0"/>
              <a:buChar char="•"/>
            </a:pPr>
            <a:r>
              <a:rPr lang="en-US" dirty="0">
                <a:solidFill>
                  <a:schemeClr val="tx1"/>
                </a:solidFill>
              </a:rPr>
              <a:t>Health, education, and crime statistics</a:t>
            </a:r>
          </a:p>
          <a:p>
            <a:pPr marL="742950" lvl="1" indent="-285750">
              <a:buClr>
                <a:schemeClr val="tx1"/>
              </a:buClr>
              <a:buFont typeface="Arial" panose="020B0604020202020204" pitchFamily="34" charset="0"/>
              <a:buChar char="•"/>
            </a:pPr>
            <a:r>
              <a:rPr lang="en-US" dirty="0">
                <a:solidFill>
                  <a:schemeClr val="tx1"/>
                </a:solidFill>
              </a:rPr>
              <a:t>Weather and climate data</a:t>
            </a:r>
          </a:p>
          <a:p>
            <a:pPr marL="742950" lvl="1" indent="-285750">
              <a:buClr>
                <a:schemeClr val="tx1"/>
              </a:buClr>
              <a:buFont typeface="Arial" panose="020B0604020202020204" pitchFamily="34" charset="0"/>
              <a:buChar char="•"/>
            </a:pPr>
            <a:r>
              <a:rPr lang="en-US" dirty="0">
                <a:solidFill>
                  <a:schemeClr val="tx1"/>
                </a:solidFill>
              </a:rPr>
              <a:t>Transport and traffic data</a:t>
            </a:r>
          </a:p>
          <a:p>
            <a:pPr marL="742950" lvl="1" indent="-285750">
              <a:buClr>
                <a:schemeClr val="tx1"/>
              </a:buClr>
              <a:buFont typeface="Arial" panose="020B0604020202020204" pitchFamily="34" charset="0"/>
              <a:buChar char="•"/>
            </a:pPr>
            <a:r>
              <a:rPr lang="en-US" dirty="0">
                <a:solidFill>
                  <a:schemeClr val="tx1"/>
                </a:solidFill>
              </a:rPr>
              <a:t>Open data portals (national or city-level)</a:t>
            </a:r>
          </a:p>
        </p:txBody>
      </p:sp>
    </p:spTree>
    <p:extLst>
      <p:ext uri="{BB962C8B-B14F-4D97-AF65-F5344CB8AC3E}">
        <p14:creationId xmlns:p14="http://schemas.microsoft.com/office/powerpoint/2010/main" val="2871656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08F0D-A410-8A63-3514-E6EB31F374BD}"/>
              </a:ext>
            </a:extLst>
          </p:cNvPr>
          <p:cNvSpPr>
            <a:spLocks noGrp="1"/>
          </p:cNvSpPr>
          <p:nvPr>
            <p:ph type="title"/>
          </p:nvPr>
        </p:nvSpPr>
        <p:spPr/>
        <p:txBody>
          <a:bodyPr/>
          <a:lstStyle/>
          <a:p>
            <a:r>
              <a:rPr lang="en-IN" dirty="0"/>
              <a:t>Data Collection Methods</a:t>
            </a:r>
          </a:p>
        </p:txBody>
      </p:sp>
      <p:sp>
        <p:nvSpPr>
          <p:cNvPr id="3" name="TextBox 2">
            <a:extLst>
              <a:ext uri="{FF2B5EF4-FFF2-40B4-BE49-F238E27FC236}">
                <a16:creationId xmlns:a16="http://schemas.microsoft.com/office/drawing/2014/main" id="{686E569C-E8D1-1D13-818E-4A3C53FB96D6}"/>
              </a:ext>
            </a:extLst>
          </p:cNvPr>
          <p:cNvSpPr txBox="1"/>
          <p:nvPr/>
        </p:nvSpPr>
        <p:spPr>
          <a:xfrm>
            <a:off x="1451579" y="2023353"/>
            <a:ext cx="9469245" cy="923330"/>
          </a:xfrm>
          <a:prstGeom prst="rect">
            <a:avLst/>
          </a:prstGeom>
          <a:noFill/>
        </p:spPr>
        <p:txBody>
          <a:bodyPr wrap="square" rtlCol="0">
            <a:spAutoFit/>
          </a:bodyPr>
          <a:lstStyle/>
          <a:p>
            <a:r>
              <a:rPr lang="en-US" b="1" dirty="0"/>
              <a:t>Data collection</a:t>
            </a:r>
            <a:r>
              <a:rPr lang="en-US" dirty="0"/>
              <a:t> is the process of </a:t>
            </a:r>
            <a:r>
              <a:rPr lang="en-US" b="1" dirty="0"/>
              <a:t>gathering information</a:t>
            </a:r>
            <a:r>
              <a:rPr lang="en-US" dirty="0"/>
              <a:t> from various sources to </a:t>
            </a:r>
            <a:r>
              <a:rPr lang="en-US" b="1" dirty="0"/>
              <a:t>answer questions, test hypotheses, or make decisions</a:t>
            </a:r>
            <a:r>
              <a:rPr lang="en-US" dirty="0"/>
              <a:t>. It is used in </a:t>
            </a:r>
            <a:r>
              <a:rPr lang="en-US" b="1" dirty="0"/>
              <a:t>research, business, education, government, and data analytics</a:t>
            </a:r>
            <a:r>
              <a:rPr lang="en-US" dirty="0"/>
              <a:t>.</a:t>
            </a:r>
          </a:p>
        </p:txBody>
      </p:sp>
      <p:sp>
        <p:nvSpPr>
          <p:cNvPr id="4" name="TextBox 3">
            <a:extLst>
              <a:ext uri="{FF2B5EF4-FFF2-40B4-BE49-F238E27FC236}">
                <a16:creationId xmlns:a16="http://schemas.microsoft.com/office/drawing/2014/main" id="{BA0AE95F-1218-9344-429B-FEBE78EF092B}"/>
              </a:ext>
            </a:extLst>
          </p:cNvPr>
          <p:cNvSpPr txBox="1"/>
          <p:nvPr/>
        </p:nvSpPr>
        <p:spPr>
          <a:xfrm>
            <a:off x="1451580" y="3116282"/>
            <a:ext cx="4132098" cy="2308324"/>
          </a:xfrm>
          <a:prstGeom prst="rect">
            <a:avLst/>
          </a:prstGeom>
          <a:noFill/>
        </p:spPr>
        <p:txBody>
          <a:bodyPr wrap="square" rtlCol="0">
            <a:spAutoFit/>
          </a:bodyPr>
          <a:lstStyle/>
          <a:p>
            <a:r>
              <a:rPr lang="en-US" b="1" u="sng" dirty="0"/>
              <a:t>Types of Data (Based on Nature)</a:t>
            </a:r>
          </a:p>
          <a:p>
            <a:endParaRPr lang="en-US" u="sng" dirty="0"/>
          </a:p>
          <a:p>
            <a:r>
              <a:rPr lang="en-US" b="1" dirty="0"/>
              <a:t> a) Qualitative Data (Non-numerical)</a:t>
            </a:r>
          </a:p>
          <a:p>
            <a:pPr marL="742950" lvl="1" indent="-285750">
              <a:buClr>
                <a:schemeClr val="tx1"/>
              </a:buClr>
              <a:buFont typeface="Arial" panose="020B0604020202020204" pitchFamily="34" charset="0"/>
              <a:buChar char="•"/>
            </a:pPr>
            <a:r>
              <a:rPr lang="en-US" dirty="0"/>
              <a:t>Descriptive, textual information</a:t>
            </a:r>
          </a:p>
          <a:p>
            <a:pPr marL="742950" lvl="1" indent="-285750">
              <a:buClr>
                <a:schemeClr val="tx1"/>
              </a:buClr>
              <a:buFont typeface="Arial" panose="020B0604020202020204" pitchFamily="34" charset="0"/>
              <a:buChar char="•"/>
            </a:pPr>
            <a:r>
              <a:rPr lang="en-US" dirty="0"/>
              <a:t>Answers “</a:t>
            </a:r>
            <a:r>
              <a:rPr lang="en-US" b="1" dirty="0"/>
              <a:t>why</a:t>
            </a:r>
            <a:r>
              <a:rPr lang="en-US" dirty="0"/>
              <a:t>” and “</a:t>
            </a:r>
            <a:r>
              <a:rPr lang="en-US" b="1" dirty="0"/>
              <a:t>how</a:t>
            </a:r>
            <a:r>
              <a:rPr lang="en-US" dirty="0"/>
              <a:t>”</a:t>
            </a:r>
          </a:p>
          <a:p>
            <a:r>
              <a:rPr lang="en-US" dirty="0"/>
              <a:t>	Examples: opinions, feedback, 	comments, interview responses</a:t>
            </a:r>
          </a:p>
          <a:p>
            <a:r>
              <a:rPr lang="en-US" b="1" dirty="0"/>
              <a:t> </a:t>
            </a:r>
            <a:endParaRPr lang="en-IN" dirty="0"/>
          </a:p>
        </p:txBody>
      </p:sp>
      <p:sp>
        <p:nvSpPr>
          <p:cNvPr id="5" name="TextBox 4">
            <a:extLst>
              <a:ext uri="{FF2B5EF4-FFF2-40B4-BE49-F238E27FC236}">
                <a16:creationId xmlns:a16="http://schemas.microsoft.com/office/drawing/2014/main" id="{1A8A06B9-F1CF-A604-F155-615FB4F72FC7}"/>
              </a:ext>
            </a:extLst>
          </p:cNvPr>
          <p:cNvSpPr txBox="1"/>
          <p:nvPr/>
        </p:nvSpPr>
        <p:spPr>
          <a:xfrm>
            <a:off x="6186201" y="3661031"/>
            <a:ext cx="4313949" cy="1477328"/>
          </a:xfrm>
          <a:prstGeom prst="rect">
            <a:avLst/>
          </a:prstGeom>
          <a:noFill/>
        </p:spPr>
        <p:txBody>
          <a:bodyPr wrap="square" rtlCol="0">
            <a:spAutoFit/>
          </a:bodyPr>
          <a:lstStyle/>
          <a:p>
            <a:r>
              <a:rPr lang="en-US" b="1" dirty="0"/>
              <a:t>b) Quantitative Data (Numerical)</a:t>
            </a:r>
          </a:p>
          <a:p>
            <a:pPr marL="742950" lvl="1" indent="-285750">
              <a:buClr>
                <a:schemeClr val="tx1"/>
              </a:buClr>
              <a:buFont typeface="Arial" panose="020B0604020202020204" pitchFamily="34" charset="0"/>
              <a:buChar char="•"/>
            </a:pPr>
            <a:r>
              <a:rPr lang="en-US" dirty="0"/>
              <a:t>Data in numbers</a:t>
            </a:r>
          </a:p>
          <a:p>
            <a:pPr marL="742950" lvl="1" indent="-285750">
              <a:buClr>
                <a:schemeClr val="tx1"/>
              </a:buClr>
              <a:buFont typeface="Arial" panose="020B0604020202020204" pitchFamily="34" charset="0"/>
              <a:buChar char="•"/>
            </a:pPr>
            <a:r>
              <a:rPr lang="en-US" dirty="0"/>
              <a:t>Answers “how much”, “how many”</a:t>
            </a:r>
          </a:p>
          <a:p>
            <a:pPr lvl="1"/>
            <a:r>
              <a:rPr lang="en-US" dirty="0"/>
              <a:t>Examples: marks, sales figures, age, income, rating (1–5)</a:t>
            </a:r>
          </a:p>
        </p:txBody>
      </p:sp>
      <p:sp>
        <p:nvSpPr>
          <p:cNvPr id="6" name="TextBox 5">
            <a:extLst>
              <a:ext uri="{FF2B5EF4-FFF2-40B4-BE49-F238E27FC236}">
                <a16:creationId xmlns:a16="http://schemas.microsoft.com/office/drawing/2014/main" id="{C2FB8CB1-56B4-FB94-1F8A-B85B31A8F014}"/>
              </a:ext>
            </a:extLst>
          </p:cNvPr>
          <p:cNvSpPr txBox="1"/>
          <p:nvPr/>
        </p:nvSpPr>
        <p:spPr>
          <a:xfrm>
            <a:off x="1451579" y="5492623"/>
            <a:ext cx="10406182" cy="646331"/>
          </a:xfrm>
          <a:prstGeom prst="rect">
            <a:avLst/>
          </a:prstGeom>
          <a:noFill/>
        </p:spPr>
        <p:txBody>
          <a:bodyPr wrap="none" rtlCol="0">
            <a:spAutoFit/>
          </a:bodyPr>
          <a:lstStyle/>
          <a:p>
            <a:pPr marL="285750" indent="-285750">
              <a:buFont typeface="Arial" panose="020B0604020202020204" pitchFamily="34" charset="0"/>
              <a:buChar char="•"/>
            </a:pPr>
            <a:r>
              <a:rPr lang="en-US" dirty="0"/>
              <a:t>Data collection methods are often chosen based on whether you need </a:t>
            </a:r>
            <a:r>
              <a:rPr lang="en-US" b="1" dirty="0"/>
              <a:t>qualitative</a:t>
            </a:r>
            <a:r>
              <a:rPr lang="en-US" dirty="0"/>
              <a:t> or </a:t>
            </a:r>
            <a:r>
              <a:rPr lang="en-US" b="1" dirty="0"/>
              <a:t>quantitative</a:t>
            </a:r>
            <a:r>
              <a:rPr lang="en-US" dirty="0"/>
              <a:t> data.</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249073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64A4A-698E-DC56-B44E-8B92EFA46A87}"/>
              </a:ext>
            </a:extLst>
          </p:cNvPr>
          <p:cNvSpPr>
            <a:spLocks noGrp="1"/>
          </p:cNvSpPr>
          <p:nvPr>
            <p:ph type="title"/>
          </p:nvPr>
        </p:nvSpPr>
        <p:spPr/>
        <p:txBody>
          <a:bodyPr/>
          <a:lstStyle/>
          <a:p>
            <a:r>
              <a:rPr lang="en-US" b="1" dirty="0"/>
              <a:t>Types of Data Collection (Based on Source)</a:t>
            </a:r>
            <a:endParaRPr lang="en-IN" dirty="0"/>
          </a:p>
        </p:txBody>
      </p:sp>
      <p:sp>
        <p:nvSpPr>
          <p:cNvPr id="5" name="TextBox 4">
            <a:extLst>
              <a:ext uri="{FF2B5EF4-FFF2-40B4-BE49-F238E27FC236}">
                <a16:creationId xmlns:a16="http://schemas.microsoft.com/office/drawing/2014/main" id="{379FA99D-AEE3-1845-426A-9467379F8270}"/>
              </a:ext>
            </a:extLst>
          </p:cNvPr>
          <p:cNvSpPr txBox="1"/>
          <p:nvPr/>
        </p:nvSpPr>
        <p:spPr>
          <a:xfrm>
            <a:off x="1575881" y="2422187"/>
            <a:ext cx="3920247" cy="3693319"/>
          </a:xfrm>
          <a:prstGeom prst="rect">
            <a:avLst/>
          </a:prstGeom>
          <a:noFill/>
        </p:spPr>
        <p:txBody>
          <a:bodyPr wrap="square" rtlCol="0">
            <a:spAutoFit/>
          </a:bodyPr>
          <a:lstStyle/>
          <a:p>
            <a:pPr marL="342900" indent="-342900">
              <a:buAutoNum type="alphaLcParenR"/>
            </a:pPr>
            <a:r>
              <a:rPr lang="en-US" b="1" dirty="0"/>
              <a:t>Primary Data Collection:</a:t>
            </a:r>
          </a:p>
          <a:p>
            <a:pPr marL="342900" indent="-342900">
              <a:buAutoNum type="alphaLcParenR"/>
            </a:pPr>
            <a:endParaRPr lang="en-US" b="1" dirty="0"/>
          </a:p>
          <a:p>
            <a:r>
              <a:rPr lang="en-US" dirty="0"/>
              <a:t>	Data collected </a:t>
            </a:r>
            <a:r>
              <a:rPr lang="en-US" b="1" dirty="0"/>
              <a:t>first-hand</a:t>
            </a:r>
            <a:r>
              <a:rPr lang="en-US" dirty="0"/>
              <a:t> by the researcher for a specific purpose.</a:t>
            </a:r>
          </a:p>
          <a:p>
            <a:r>
              <a:rPr lang="en-US" dirty="0"/>
              <a:t>Methods: </a:t>
            </a:r>
            <a:r>
              <a:rPr lang="en-US" b="1" dirty="0"/>
              <a:t>surveys, interviews, experiments, observations, focus groups</a:t>
            </a:r>
            <a:r>
              <a:rPr lang="en-US" dirty="0"/>
              <a:t>.</a:t>
            </a:r>
          </a:p>
          <a:p>
            <a:endParaRPr lang="en-US" dirty="0"/>
          </a:p>
          <a:p>
            <a:r>
              <a:rPr lang="en-US" dirty="0"/>
              <a:t>Advantage: </a:t>
            </a:r>
            <a:r>
              <a:rPr lang="en-US" b="1" dirty="0"/>
              <a:t>Original and specific.</a:t>
            </a:r>
          </a:p>
          <a:p>
            <a:br>
              <a:rPr lang="en-US" dirty="0"/>
            </a:br>
            <a:r>
              <a:rPr lang="en-US" dirty="0"/>
              <a:t>Disadvantage: Takes </a:t>
            </a:r>
            <a:r>
              <a:rPr lang="en-US" b="1" dirty="0"/>
              <a:t>more time and cost</a:t>
            </a:r>
            <a:r>
              <a:rPr lang="en-US" dirty="0"/>
              <a:t>.</a:t>
            </a:r>
          </a:p>
          <a:p>
            <a:endParaRPr lang="en-IN" dirty="0"/>
          </a:p>
        </p:txBody>
      </p:sp>
      <p:sp>
        <p:nvSpPr>
          <p:cNvPr id="6" name="TextBox 5">
            <a:extLst>
              <a:ext uri="{FF2B5EF4-FFF2-40B4-BE49-F238E27FC236}">
                <a16:creationId xmlns:a16="http://schemas.microsoft.com/office/drawing/2014/main" id="{BB10CC59-4E6B-9DE5-3687-116866411A3E}"/>
              </a:ext>
            </a:extLst>
          </p:cNvPr>
          <p:cNvSpPr txBox="1"/>
          <p:nvPr/>
        </p:nvSpPr>
        <p:spPr>
          <a:xfrm>
            <a:off x="6527260" y="2422187"/>
            <a:ext cx="4338536" cy="3416320"/>
          </a:xfrm>
          <a:prstGeom prst="rect">
            <a:avLst/>
          </a:prstGeom>
          <a:noFill/>
        </p:spPr>
        <p:txBody>
          <a:bodyPr wrap="square" rtlCol="0">
            <a:spAutoFit/>
          </a:bodyPr>
          <a:lstStyle/>
          <a:p>
            <a:r>
              <a:rPr lang="en-US" b="1" dirty="0"/>
              <a:t>b) Secondary Data Collection</a:t>
            </a:r>
          </a:p>
          <a:p>
            <a:endParaRPr lang="en-US" b="1" dirty="0"/>
          </a:p>
          <a:p>
            <a:r>
              <a:rPr lang="en-US" dirty="0"/>
              <a:t>	Data collected </a:t>
            </a:r>
            <a:r>
              <a:rPr lang="en-US" b="1" dirty="0"/>
              <a:t>from existing sources</a:t>
            </a:r>
            <a:r>
              <a:rPr lang="en-US" dirty="0"/>
              <a:t> that were gathered by others.</a:t>
            </a:r>
          </a:p>
          <a:p>
            <a:r>
              <a:rPr lang="en-US" dirty="0"/>
              <a:t>Sources: books, websites, reports, research papers, government data.</a:t>
            </a:r>
          </a:p>
          <a:p>
            <a:endParaRPr lang="en-US" dirty="0"/>
          </a:p>
          <a:p>
            <a:r>
              <a:rPr lang="en-US" dirty="0"/>
              <a:t>Advantage: </a:t>
            </a:r>
            <a:r>
              <a:rPr lang="en-US" b="1" dirty="0"/>
              <a:t>Quick and cheap.</a:t>
            </a:r>
          </a:p>
          <a:p>
            <a:br>
              <a:rPr lang="en-US" dirty="0"/>
            </a:br>
            <a:r>
              <a:rPr lang="en-US" dirty="0"/>
              <a:t>Disadvantage: May be </a:t>
            </a:r>
            <a:r>
              <a:rPr lang="en-US" b="1" dirty="0"/>
              <a:t>less relevant or outdated</a:t>
            </a:r>
            <a:r>
              <a:rPr lang="en-US" dirty="0"/>
              <a:t>.</a:t>
            </a:r>
          </a:p>
          <a:p>
            <a:endParaRPr lang="en-IN" dirty="0"/>
          </a:p>
        </p:txBody>
      </p:sp>
    </p:spTree>
    <p:extLst>
      <p:ext uri="{BB962C8B-B14F-4D97-AF65-F5344CB8AC3E}">
        <p14:creationId xmlns:p14="http://schemas.microsoft.com/office/powerpoint/2010/main" val="11864766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B3989-F35F-DCA3-DE45-9C0C7367D2AD}"/>
              </a:ext>
            </a:extLst>
          </p:cNvPr>
          <p:cNvSpPr>
            <a:spLocks noGrp="1"/>
          </p:cNvSpPr>
          <p:nvPr>
            <p:ph type="title"/>
          </p:nvPr>
        </p:nvSpPr>
        <p:spPr/>
        <p:txBody>
          <a:bodyPr/>
          <a:lstStyle/>
          <a:p>
            <a:r>
              <a:rPr lang="en-IN" dirty="0"/>
              <a:t>Data Lifecycle Management</a:t>
            </a:r>
          </a:p>
        </p:txBody>
      </p:sp>
      <p:sp>
        <p:nvSpPr>
          <p:cNvPr id="3" name="TextBox 2">
            <a:extLst>
              <a:ext uri="{FF2B5EF4-FFF2-40B4-BE49-F238E27FC236}">
                <a16:creationId xmlns:a16="http://schemas.microsoft.com/office/drawing/2014/main" id="{9B89AEB0-8B50-BE20-E7BB-3A8F38B39889}"/>
              </a:ext>
            </a:extLst>
          </p:cNvPr>
          <p:cNvSpPr txBox="1"/>
          <p:nvPr/>
        </p:nvSpPr>
        <p:spPr>
          <a:xfrm>
            <a:off x="1451578" y="2149813"/>
            <a:ext cx="9603275" cy="2308324"/>
          </a:xfrm>
          <a:prstGeom prst="rect">
            <a:avLst/>
          </a:prstGeom>
          <a:noFill/>
        </p:spPr>
        <p:txBody>
          <a:bodyPr wrap="square" rtlCol="0">
            <a:spAutoFit/>
          </a:bodyPr>
          <a:lstStyle/>
          <a:p>
            <a:r>
              <a:rPr lang="en-US" b="1" dirty="0"/>
              <a:t>Data Life Cycle Management (DLM)</a:t>
            </a:r>
            <a:r>
              <a:rPr lang="en-US" dirty="0"/>
              <a:t> is all about how data is handled from the moment it is created until it is no longer needed and is deleted or archived.</a:t>
            </a:r>
          </a:p>
          <a:p>
            <a:endParaRPr lang="en-US" dirty="0"/>
          </a:p>
          <a:p>
            <a:r>
              <a:rPr lang="en-US" dirty="0"/>
              <a:t>Main Stages of the Data Life Cycle:</a:t>
            </a:r>
          </a:p>
          <a:p>
            <a:endParaRPr lang="en-US" dirty="0"/>
          </a:p>
          <a:p>
            <a:endParaRPr lang="en-US" dirty="0"/>
          </a:p>
          <a:p>
            <a:endParaRPr lang="en-US" dirty="0"/>
          </a:p>
          <a:p>
            <a:endParaRPr lang="en-IN" dirty="0"/>
          </a:p>
        </p:txBody>
      </p:sp>
      <p:pic>
        <p:nvPicPr>
          <p:cNvPr id="4" name="Picture 2">
            <a:extLst>
              <a:ext uri="{FF2B5EF4-FFF2-40B4-BE49-F238E27FC236}">
                <a16:creationId xmlns:a16="http://schemas.microsoft.com/office/drawing/2014/main" id="{73998CAC-4D5B-0B3C-1598-6CDE39BB80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7634" y="2952225"/>
            <a:ext cx="4437132" cy="3101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7328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9E3ED-C0ED-96DA-7121-5F7145032755}"/>
              </a:ext>
            </a:extLst>
          </p:cNvPr>
          <p:cNvSpPr>
            <a:spLocks noGrp="1"/>
          </p:cNvSpPr>
          <p:nvPr>
            <p:ph type="title"/>
          </p:nvPr>
        </p:nvSpPr>
        <p:spPr/>
        <p:txBody>
          <a:bodyPr/>
          <a:lstStyle/>
          <a:p>
            <a:r>
              <a:rPr lang="en-IN" dirty="0"/>
              <a:t>Data Quality and Integrity</a:t>
            </a:r>
          </a:p>
        </p:txBody>
      </p:sp>
      <p:sp>
        <p:nvSpPr>
          <p:cNvPr id="3" name="TextBox 2">
            <a:extLst>
              <a:ext uri="{FF2B5EF4-FFF2-40B4-BE49-F238E27FC236}">
                <a16:creationId xmlns:a16="http://schemas.microsoft.com/office/drawing/2014/main" id="{F2107BC4-C77D-602D-E00B-65EF3D51C9E7}"/>
              </a:ext>
            </a:extLst>
          </p:cNvPr>
          <p:cNvSpPr txBox="1"/>
          <p:nvPr/>
        </p:nvSpPr>
        <p:spPr>
          <a:xfrm>
            <a:off x="1657349" y="2438400"/>
            <a:ext cx="3048001" cy="2308324"/>
          </a:xfrm>
          <a:prstGeom prst="rect">
            <a:avLst/>
          </a:prstGeom>
          <a:noFill/>
        </p:spPr>
        <p:txBody>
          <a:bodyPr wrap="square" rtlCol="0">
            <a:spAutoFit/>
          </a:bodyPr>
          <a:lstStyle/>
          <a:p>
            <a:r>
              <a:rPr lang="en-US" b="1" dirty="0"/>
              <a:t>Data Quality Dimensions:</a:t>
            </a:r>
          </a:p>
          <a:p>
            <a:endParaRPr lang="en-US" dirty="0"/>
          </a:p>
          <a:p>
            <a:pPr marL="742950" lvl="1" indent="-285750">
              <a:buFont typeface="Arial" panose="020B0604020202020204" pitchFamily="34" charset="0"/>
              <a:buChar char="•"/>
            </a:pPr>
            <a:r>
              <a:rPr lang="en-US" dirty="0"/>
              <a:t>Accuracy</a:t>
            </a:r>
          </a:p>
          <a:p>
            <a:pPr marL="742950" lvl="1" indent="-285750">
              <a:buFont typeface="Arial" panose="020B0604020202020204" pitchFamily="34" charset="0"/>
              <a:buChar char="•"/>
            </a:pPr>
            <a:r>
              <a:rPr lang="en-US" dirty="0"/>
              <a:t>Completeness</a:t>
            </a:r>
          </a:p>
          <a:p>
            <a:pPr marL="742950" lvl="1" indent="-285750">
              <a:buFont typeface="Arial" panose="020B0604020202020204" pitchFamily="34" charset="0"/>
              <a:buChar char="•"/>
            </a:pPr>
            <a:r>
              <a:rPr lang="en-US" dirty="0"/>
              <a:t>Consistency</a:t>
            </a:r>
          </a:p>
          <a:p>
            <a:pPr marL="742950" lvl="1" indent="-285750">
              <a:buFont typeface="Arial" panose="020B0604020202020204" pitchFamily="34" charset="0"/>
              <a:buChar char="•"/>
            </a:pPr>
            <a:r>
              <a:rPr lang="en-US" dirty="0"/>
              <a:t>Timeliness</a:t>
            </a:r>
          </a:p>
          <a:p>
            <a:pPr marL="742950" lvl="1" indent="-285750">
              <a:buFont typeface="Arial" panose="020B0604020202020204" pitchFamily="34" charset="0"/>
              <a:buChar char="•"/>
            </a:pPr>
            <a:r>
              <a:rPr lang="en-US" dirty="0"/>
              <a:t>Validity</a:t>
            </a:r>
          </a:p>
          <a:p>
            <a:endParaRPr lang="en-IN" dirty="0"/>
          </a:p>
        </p:txBody>
      </p:sp>
      <p:sp>
        <p:nvSpPr>
          <p:cNvPr id="4" name="TextBox 3">
            <a:extLst>
              <a:ext uri="{FF2B5EF4-FFF2-40B4-BE49-F238E27FC236}">
                <a16:creationId xmlns:a16="http://schemas.microsoft.com/office/drawing/2014/main" id="{081DCE78-4E3B-E55E-8459-2341DF9CD6F5}"/>
              </a:ext>
            </a:extLst>
          </p:cNvPr>
          <p:cNvSpPr txBox="1"/>
          <p:nvPr/>
        </p:nvSpPr>
        <p:spPr>
          <a:xfrm>
            <a:off x="6253216" y="2438400"/>
            <a:ext cx="3214341" cy="1754326"/>
          </a:xfrm>
          <a:prstGeom prst="rect">
            <a:avLst/>
          </a:prstGeom>
          <a:noFill/>
        </p:spPr>
        <p:txBody>
          <a:bodyPr wrap="none" rtlCol="0">
            <a:spAutoFit/>
          </a:bodyPr>
          <a:lstStyle/>
          <a:p>
            <a:r>
              <a:rPr lang="en-US" b="1" dirty="0"/>
              <a:t>Data Integrity Ensures:</a:t>
            </a:r>
          </a:p>
          <a:p>
            <a:endParaRPr lang="en-US" dirty="0"/>
          </a:p>
          <a:p>
            <a:pPr marL="742950" lvl="1" indent="-285750">
              <a:buFont typeface="Arial" panose="020B0604020202020204" pitchFamily="34" charset="0"/>
              <a:buChar char="•"/>
            </a:pPr>
            <a:r>
              <a:rPr lang="en-US" dirty="0"/>
              <a:t>No corruption</a:t>
            </a:r>
          </a:p>
          <a:p>
            <a:pPr marL="742950" lvl="1" indent="-285750">
              <a:buFont typeface="Arial" panose="020B0604020202020204" pitchFamily="34" charset="0"/>
              <a:buChar char="•"/>
            </a:pPr>
            <a:r>
              <a:rPr lang="en-US" dirty="0"/>
              <a:t>Secure access</a:t>
            </a:r>
          </a:p>
          <a:p>
            <a:pPr marL="742950" lvl="1" indent="-285750">
              <a:buFont typeface="Arial" panose="020B0604020202020204" pitchFamily="34" charset="0"/>
              <a:buChar char="•"/>
            </a:pPr>
            <a:r>
              <a:rPr lang="en-US" dirty="0"/>
              <a:t>Reliable decision-making</a:t>
            </a:r>
          </a:p>
          <a:p>
            <a:endParaRPr lang="en-IN" dirty="0"/>
          </a:p>
        </p:txBody>
      </p:sp>
    </p:spTree>
    <p:extLst>
      <p:ext uri="{BB962C8B-B14F-4D97-AF65-F5344CB8AC3E}">
        <p14:creationId xmlns:p14="http://schemas.microsoft.com/office/powerpoint/2010/main" val="4001592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014DD-828C-DD46-5571-391CF997B6D5}"/>
              </a:ext>
            </a:extLst>
          </p:cNvPr>
          <p:cNvSpPr>
            <a:spLocks noGrp="1"/>
          </p:cNvSpPr>
          <p:nvPr>
            <p:ph type="title"/>
          </p:nvPr>
        </p:nvSpPr>
        <p:spPr/>
        <p:txBody>
          <a:bodyPr/>
          <a:lstStyle/>
          <a:p>
            <a:r>
              <a:rPr lang="en-IN" dirty="0"/>
              <a:t>Definition of Business Analyst</a:t>
            </a:r>
          </a:p>
        </p:txBody>
      </p:sp>
      <p:sp>
        <p:nvSpPr>
          <p:cNvPr id="3" name="TextBox 2">
            <a:extLst>
              <a:ext uri="{FF2B5EF4-FFF2-40B4-BE49-F238E27FC236}">
                <a16:creationId xmlns:a16="http://schemas.microsoft.com/office/drawing/2014/main" id="{2614639F-3563-A9D3-E0E5-C9EA2C76C58B}"/>
              </a:ext>
            </a:extLst>
          </p:cNvPr>
          <p:cNvSpPr txBox="1"/>
          <p:nvPr/>
        </p:nvSpPr>
        <p:spPr>
          <a:xfrm>
            <a:off x="1451579" y="2352675"/>
            <a:ext cx="8349646" cy="3416320"/>
          </a:xfrm>
          <a:prstGeom prst="rect">
            <a:avLst/>
          </a:prstGeom>
          <a:noFill/>
        </p:spPr>
        <p:txBody>
          <a:bodyPr wrap="square" rtlCol="0">
            <a:spAutoFit/>
          </a:bodyPr>
          <a:lstStyle/>
          <a:p>
            <a:r>
              <a:rPr lang="en-US" dirty="0"/>
              <a:t>A Business Analyst (BA) bridges the gap between business needs and IT solutions.</a:t>
            </a:r>
          </a:p>
          <a:p>
            <a:endParaRPr lang="en-US" dirty="0"/>
          </a:p>
          <a:p>
            <a:r>
              <a:rPr lang="en-US" b="1" dirty="0"/>
              <a:t>Responsibilities:</a:t>
            </a:r>
          </a:p>
          <a:p>
            <a:endParaRPr lang="en-US" dirty="0"/>
          </a:p>
          <a:p>
            <a:pPr marL="742950" lvl="1" indent="-285750">
              <a:buFont typeface="Arial" panose="020B0604020202020204" pitchFamily="34" charset="0"/>
              <a:buChar char="•"/>
            </a:pPr>
            <a:r>
              <a:rPr lang="en-US" dirty="0"/>
              <a:t>Analyzing Business needs</a:t>
            </a:r>
          </a:p>
          <a:p>
            <a:pPr marL="742950" lvl="1" indent="-285750">
              <a:buFont typeface="Arial" panose="020B0604020202020204" pitchFamily="34" charset="0"/>
              <a:buChar char="•"/>
            </a:pPr>
            <a:r>
              <a:rPr lang="en-US" dirty="0"/>
              <a:t>Requirement gathering</a:t>
            </a:r>
          </a:p>
          <a:p>
            <a:pPr marL="742950" lvl="1" indent="-285750">
              <a:buFont typeface="Arial" panose="020B0604020202020204" pitchFamily="34" charset="0"/>
              <a:buChar char="•"/>
            </a:pPr>
            <a:r>
              <a:rPr lang="en-US" dirty="0"/>
              <a:t>Data analysis</a:t>
            </a:r>
          </a:p>
          <a:p>
            <a:pPr marL="742950" lvl="1" indent="-285750">
              <a:buFont typeface="Arial" panose="020B0604020202020204" pitchFamily="34" charset="0"/>
              <a:buChar char="•"/>
            </a:pPr>
            <a:r>
              <a:rPr lang="en-US" dirty="0"/>
              <a:t>Process improvement</a:t>
            </a:r>
          </a:p>
          <a:p>
            <a:pPr marL="742950" lvl="1" indent="-285750">
              <a:buFont typeface="Arial" panose="020B0604020202020204" pitchFamily="34" charset="0"/>
              <a:buChar char="•"/>
            </a:pPr>
            <a:r>
              <a:rPr lang="en-US" dirty="0"/>
              <a:t>Stakeholder communication</a:t>
            </a:r>
          </a:p>
          <a:p>
            <a:pPr marL="742950" lvl="1" indent="-285750">
              <a:buFont typeface="Arial" panose="020B0604020202020204" pitchFamily="34" charset="0"/>
              <a:buChar char="•"/>
            </a:pPr>
            <a:r>
              <a:rPr lang="en-US" dirty="0"/>
              <a:t>Documentation</a:t>
            </a:r>
          </a:p>
          <a:p>
            <a:pPr marL="742950" lvl="1" indent="-285750">
              <a:buFont typeface="Arial" panose="020B0604020202020204" pitchFamily="34" charset="0"/>
              <a:buChar char="•"/>
            </a:pPr>
            <a:r>
              <a:rPr lang="en-US" dirty="0"/>
              <a:t>Solution implementation</a:t>
            </a:r>
          </a:p>
          <a:p>
            <a:endParaRPr lang="en-IN" dirty="0"/>
          </a:p>
        </p:txBody>
      </p:sp>
    </p:spTree>
    <p:extLst>
      <p:ext uri="{BB962C8B-B14F-4D97-AF65-F5344CB8AC3E}">
        <p14:creationId xmlns:p14="http://schemas.microsoft.com/office/powerpoint/2010/main" val="1498381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0FC94-87E8-7963-1FC8-A4C157A4A33C}"/>
              </a:ext>
            </a:extLst>
          </p:cNvPr>
          <p:cNvSpPr>
            <a:spLocks noGrp="1"/>
          </p:cNvSpPr>
          <p:nvPr>
            <p:ph type="title"/>
          </p:nvPr>
        </p:nvSpPr>
        <p:spPr/>
        <p:txBody>
          <a:bodyPr/>
          <a:lstStyle/>
          <a:p>
            <a:r>
              <a:rPr lang="en-US" dirty="0"/>
              <a:t>Key Skills for Business Analysts</a:t>
            </a:r>
            <a:endParaRPr lang="en-IN" dirty="0"/>
          </a:p>
        </p:txBody>
      </p:sp>
      <p:sp>
        <p:nvSpPr>
          <p:cNvPr id="3" name="TextBox 2">
            <a:extLst>
              <a:ext uri="{FF2B5EF4-FFF2-40B4-BE49-F238E27FC236}">
                <a16:creationId xmlns:a16="http://schemas.microsoft.com/office/drawing/2014/main" id="{8ECDECBC-94C2-E53C-9797-FBCCDE3CA320}"/>
              </a:ext>
            </a:extLst>
          </p:cNvPr>
          <p:cNvSpPr txBox="1"/>
          <p:nvPr/>
        </p:nvSpPr>
        <p:spPr>
          <a:xfrm>
            <a:off x="1451579" y="2314575"/>
            <a:ext cx="7641836" cy="3416320"/>
          </a:xfrm>
          <a:prstGeom prst="rect">
            <a:avLst/>
          </a:prstGeom>
          <a:noFill/>
        </p:spPr>
        <p:txBody>
          <a:bodyPr wrap="non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Analytical thinking</a:t>
            </a:r>
          </a:p>
          <a:p>
            <a:pPr marL="285750" lvl="0" indent="-285750" defTabSz="91440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Communication skills</a:t>
            </a:r>
            <a:r>
              <a:rPr lang="en-US" altLang="en-US" dirty="0">
                <a:latin typeface="Arial" panose="020B0604020202020204" pitchFamily="34" charset="0"/>
              </a:rPr>
              <a:t> (talking to both business &amp; technical people)</a:t>
            </a:r>
          </a:p>
          <a:p>
            <a:pPr marL="285750" lvl="0" indent="-285750" defTabSz="91440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Problem-solving</a:t>
            </a:r>
          </a:p>
          <a:p>
            <a:pPr marL="285750" lvl="0" indent="-285750" defTabSz="91440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Documentation and modelling</a:t>
            </a:r>
          </a:p>
          <a:p>
            <a:pPr marL="285750" lvl="0" indent="-285750" defTabSz="91440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Basic knowledge of </a:t>
            </a:r>
            <a:r>
              <a:rPr lang="en-US" altLang="en-US" b="1" dirty="0">
                <a:latin typeface="Arial" panose="020B0604020202020204" pitchFamily="34" charset="0"/>
              </a:rPr>
              <a:t>databases, Excel, BI tools</a:t>
            </a:r>
          </a:p>
          <a:p>
            <a:pPr marL="285750" lvl="0" indent="-285750" defTabSz="91440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Understanding of </a:t>
            </a:r>
            <a:r>
              <a:rPr lang="en-US" altLang="en-US" b="1" dirty="0">
                <a:latin typeface="Arial" panose="020B0604020202020204" pitchFamily="34" charset="0"/>
              </a:rPr>
              <a:t>business domains</a:t>
            </a:r>
            <a:r>
              <a:rPr lang="en-US" altLang="en-US" dirty="0">
                <a:latin typeface="Arial" panose="020B0604020202020204" pitchFamily="34" charset="0"/>
              </a:rPr>
              <a:t> (finance, sales, operations, etc.)</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445068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C867A-EE97-3427-A8E4-0D82EAC9CDE6}"/>
              </a:ext>
            </a:extLst>
          </p:cNvPr>
          <p:cNvSpPr>
            <a:spLocks noGrp="1"/>
          </p:cNvSpPr>
          <p:nvPr>
            <p:ph type="title"/>
          </p:nvPr>
        </p:nvSpPr>
        <p:spPr/>
        <p:txBody>
          <a:bodyPr/>
          <a:lstStyle/>
          <a:p>
            <a:r>
              <a:rPr lang="en-IN" dirty="0"/>
              <a:t>Business Analysis Methodologies</a:t>
            </a:r>
          </a:p>
        </p:txBody>
      </p:sp>
      <p:sp>
        <p:nvSpPr>
          <p:cNvPr id="5" name="TextBox 4">
            <a:extLst>
              <a:ext uri="{FF2B5EF4-FFF2-40B4-BE49-F238E27FC236}">
                <a16:creationId xmlns:a16="http://schemas.microsoft.com/office/drawing/2014/main" id="{9CBF6CA5-B290-8270-0725-E3B2BAC301B0}"/>
              </a:ext>
            </a:extLst>
          </p:cNvPr>
          <p:cNvSpPr txBox="1"/>
          <p:nvPr/>
        </p:nvSpPr>
        <p:spPr>
          <a:xfrm>
            <a:off x="1451578" y="2179187"/>
            <a:ext cx="9845072" cy="4247317"/>
          </a:xfrm>
          <a:prstGeom prst="rect">
            <a:avLst/>
          </a:prstGeom>
          <a:noFill/>
        </p:spPr>
        <p:txBody>
          <a:bodyPr wrap="square" rtlCol="0">
            <a:spAutoFit/>
          </a:bodyPr>
          <a:lstStyle/>
          <a:p>
            <a:r>
              <a:rPr lang="en-US" dirty="0"/>
              <a:t>Business analysis uses methodologies like </a:t>
            </a:r>
            <a:r>
              <a:rPr lang="en-US" b="1" dirty="0"/>
              <a:t>Agile</a:t>
            </a:r>
            <a:r>
              <a:rPr lang="en-US" dirty="0"/>
              <a:t> and </a:t>
            </a:r>
            <a:r>
              <a:rPr lang="en-US" b="1" dirty="0"/>
              <a:t>Water fall</a:t>
            </a:r>
            <a:r>
              <a:rPr lang="en-US" dirty="0"/>
              <a:t>.</a:t>
            </a:r>
          </a:p>
          <a:p>
            <a:endParaRPr lang="en-US" b="1" dirty="0"/>
          </a:p>
          <a:p>
            <a:r>
              <a:rPr lang="en-IN" b="1" dirty="0"/>
              <a:t>Agile</a:t>
            </a:r>
            <a:r>
              <a:rPr lang="en-IN" dirty="0"/>
              <a:t> is a flexible, iterative approach focused on continuous feedback and collaboration, while Waterfall is a sequential, linear model that emphasizes thorough upfront planning and distinct, consecutive phases</a:t>
            </a:r>
            <a:r>
              <a:rPr lang="en-US" b="1" dirty="0"/>
              <a:t> </a:t>
            </a:r>
            <a:r>
              <a:rPr lang="en-US" dirty="0"/>
              <a:t>to manage projects.</a:t>
            </a:r>
          </a:p>
          <a:p>
            <a:endParaRPr lang="en-US" dirty="0"/>
          </a:p>
          <a:p>
            <a:r>
              <a:rPr lang="en-IN" b="1" u="sng" dirty="0"/>
              <a:t>Waterfall methodology:</a:t>
            </a:r>
          </a:p>
          <a:p>
            <a:endParaRPr lang="en-IN" dirty="0"/>
          </a:p>
          <a:p>
            <a:pPr lvl="0"/>
            <a:r>
              <a:rPr lang="en-IN" b="1" dirty="0"/>
              <a:t>Approach:</a:t>
            </a:r>
            <a:r>
              <a:rPr lang="en-IN" dirty="0"/>
              <a:t> A linear, sequential process where each phase must be completed before the next begins.</a:t>
            </a:r>
          </a:p>
          <a:p>
            <a:pPr lvl="0"/>
            <a:endParaRPr lang="en-IN" dirty="0"/>
          </a:p>
          <a:p>
            <a:pPr lvl="0"/>
            <a:r>
              <a:rPr lang="en-IN" b="1" dirty="0"/>
              <a:t>Phases:</a:t>
            </a:r>
            <a:r>
              <a:rPr lang="en-IN" dirty="0"/>
              <a:t> Typically includes requirements gathering, design, implementation, verification, and maintenance.</a:t>
            </a:r>
          </a:p>
          <a:p>
            <a:pPr lvl="0"/>
            <a:endParaRPr lang="en-IN" dirty="0"/>
          </a:p>
          <a:p>
            <a:r>
              <a:rPr lang="en-IN" b="1" dirty="0"/>
              <a:t>Best for:</a:t>
            </a:r>
            <a:r>
              <a:rPr lang="en-IN" dirty="0"/>
              <a:t> Projects with stable requirements that are well-defined from the start. </a:t>
            </a:r>
          </a:p>
          <a:p>
            <a:endParaRPr lang="en-US" dirty="0"/>
          </a:p>
          <a:p>
            <a:endParaRPr lang="en-IN" dirty="0"/>
          </a:p>
        </p:txBody>
      </p:sp>
    </p:spTree>
    <p:extLst>
      <p:ext uri="{BB962C8B-B14F-4D97-AF65-F5344CB8AC3E}">
        <p14:creationId xmlns:p14="http://schemas.microsoft.com/office/powerpoint/2010/main" val="33803001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CF2B4C-5A10-CDE1-32D3-C663C72A484A}"/>
              </a:ext>
            </a:extLst>
          </p:cNvPr>
          <p:cNvSpPr txBox="1"/>
          <p:nvPr/>
        </p:nvSpPr>
        <p:spPr>
          <a:xfrm>
            <a:off x="904875" y="659011"/>
            <a:ext cx="9515475" cy="5539978"/>
          </a:xfrm>
          <a:prstGeom prst="rect">
            <a:avLst/>
          </a:prstGeom>
          <a:noFill/>
        </p:spPr>
        <p:txBody>
          <a:bodyPr wrap="square" rtlCol="0">
            <a:spAutoFit/>
          </a:bodyPr>
          <a:lstStyle/>
          <a:p>
            <a:r>
              <a:rPr lang="en-US" sz="2000" b="1" dirty="0"/>
              <a:t>Role of BA in Waterfall :</a:t>
            </a:r>
          </a:p>
          <a:p>
            <a:endParaRPr lang="en-US" sz="2000" b="1" dirty="0"/>
          </a:p>
          <a:p>
            <a:pPr marL="742950" lvl="1" indent="-285750">
              <a:buFont typeface="Arial" panose="020B0604020202020204" pitchFamily="34" charset="0"/>
              <a:buChar char="•"/>
            </a:pPr>
            <a:r>
              <a:rPr lang="en-US" dirty="0"/>
              <a:t>Gather </a:t>
            </a:r>
            <a:r>
              <a:rPr lang="en-US" b="1" dirty="0"/>
              <a:t>complete requirements</a:t>
            </a:r>
            <a:r>
              <a:rPr lang="en-US" dirty="0"/>
              <a:t> at the beginning.</a:t>
            </a:r>
          </a:p>
          <a:p>
            <a:pPr marL="742950" lvl="1" indent="-285750">
              <a:buFont typeface="Arial" panose="020B0604020202020204" pitchFamily="34" charset="0"/>
              <a:buChar char="•"/>
            </a:pPr>
            <a:r>
              <a:rPr lang="en-US" dirty="0"/>
              <a:t>Prepare </a:t>
            </a:r>
            <a:r>
              <a:rPr lang="en-US" b="1" dirty="0"/>
              <a:t>detailed documentation</a:t>
            </a:r>
            <a:r>
              <a:rPr lang="en-US" dirty="0"/>
              <a:t> (BRD, SRS, use cases).</a:t>
            </a:r>
          </a:p>
          <a:p>
            <a:pPr marL="742950" lvl="1" indent="-285750">
              <a:buFont typeface="Arial" panose="020B0604020202020204" pitchFamily="34" charset="0"/>
              <a:buChar char="•"/>
            </a:pPr>
            <a:r>
              <a:rPr lang="en-US" dirty="0"/>
              <a:t>Get sign-off from stakeholders </a:t>
            </a:r>
            <a:r>
              <a:rPr lang="en-US" b="1" dirty="0"/>
              <a:t>before development starts</a:t>
            </a:r>
            <a:r>
              <a:rPr lang="en-US" dirty="0"/>
              <a:t>.</a:t>
            </a:r>
          </a:p>
          <a:p>
            <a:pPr marL="742950" lvl="1" indent="-285750">
              <a:buFont typeface="Arial" panose="020B0604020202020204" pitchFamily="34" charset="0"/>
              <a:buChar char="•"/>
            </a:pPr>
            <a:r>
              <a:rPr lang="en-US" dirty="0"/>
              <a:t>Limited scope for change later.</a:t>
            </a:r>
          </a:p>
          <a:p>
            <a:pPr marL="742950" lvl="1" indent="-285750">
              <a:buFont typeface="Arial" panose="020B0604020202020204" pitchFamily="34" charset="0"/>
              <a:buChar char="•"/>
            </a:pPr>
            <a:endParaRPr lang="en-US" dirty="0"/>
          </a:p>
          <a:p>
            <a:r>
              <a:rPr lang="en-US" sz="2000" b="1" dirty="0"/>
              <a:t>Advantages</a:t>
            </a:r>
          </a:p>
          <a:p>
            <a:endParaRPr lang="en-US" sz="2000" b="1" dirty="0"/>
          </a:p>
          <a:p>
            <a:pPr marL="742950" lvl="1" indent="-285750">
              <a:buClr>
                <a:schemeClr val="tx1"/>
              </a:buClr>
              <a:buFont typeface="Arial" panose="020B0604020202020204" pitchFamily="34" charset="0"/>
              <a:buChar char="•"/>
            </a:pPr>
            <a:r>
              <a:rPr lang="en-US" dirty="0"/>
              <a:t>Clear structure and planning.</a:t>
            </a:r>
          </a:p>
          <a:p>
            <a:pPr marL="742950" lvl="1" indent="-285750">
              <a:buClr>
                <a:schemeClr val="tx1"/>
              </a:buClr>
              <a:buFont typeface="Arial" panose="020B0604020202020204" pitchFamily="34" charset="0"/>
              <a:buChar char="•"/>
            </a:pPr>
            <a:r>
              <a:rPr lang="en-US" dirty="0"/>
              <a:t>Good for </a:t>
            </a:r>
            <a:r>
              <a:rPr lang="en-US" b="1" dirty="0"/>
              <a:t>stable, well-understood requirements</a:t>
            </a:r>
            <a:r>
              <a:rPr lang="en-US" dirty="0"/>
              <a:t>.</a:t>
            </a:r>
          </a:p>
          <a:p>
            <a:pPr marL="742950" lvl="1" indent="-285750">
              <a:buClr>
                <a:schemeClr val="tx1"/>
              </a:buClr>
              <a:buFont typeface="Arial" panose="020B0604020202020204" pitchFamily="34" charset="0"/>
              <a:buChar char="•"/>
            </a:pPr>
            <a:r>
              <a:rPr lang="en-US" dirty="0"/>
              <a:t>Strong documentation.</a:t>
            </a:r>
          </a:p>
          <a:p>
            <a:pPr marL="742950" lvl="1" indent="-285750">
              <a:buClr>
                <a:schemeClr val="tx1"/>
              </a:buClr>
              <a:buFont typeface="Arial" panose="020B0604020202020204" pitchFamily="34" charset="0"/>
              <a:buChar char="•"/>
            </a:pPr>
            <a:endParaRPr lang="en-US" dirty="0"/>
          </a:p>
          <a:p>
            <a:r>
              <a:rPr lang="en-US" sz="2000" b="1" dirty="0"/>
              <a:t>Disadvantages</a:t>
            </a:r>
          </a:p>
          <a:p>
            <a:endParaRPr lang="en-US" sz="2000" b="1" dirty="0"/>
          </a:p>
          <a:p>
            <a:pPr marL="742950" lvl="1" indent="-285750">
              <a:buClr>
                <a:schemeClr val="tx1"/>
              </a:buClr>
              <a:buFont typeface="Arial" panose="020B0604020202020204" pitchFamily="34" charset="0"/>
              <a:buChar char="•"/>
            </a:pPr>
            <a:r>
              <a:rPr lang="en-US" dirty="0"/>
              <a:t>Not flexible to changes.</a:t>
            </a:r>
          </a:p>
          <a:p>
            <a:pPr marL="742950" lvl="1" indent="-285750">
              <a:buClr>
                <a:schemeClr val="tx1"/>
              </a:buClr>
              <a:buFont typeface="Arial" panose="020B0604020202020204" pitchFamily="34" charset="0"/>
              <a:buChar char="•"/>
            </a:pPr>
            <a:r>
              <a:rPr lang="en-US" dirty="0"/>
              <a:t>Feedback comes </a:t>
            </a:r>
            <a:r>
              <a:rPr lang="en-US" b="1" dirty="0"/>
              <a:t>late</a:t>
            </a:r>
            <a:r>
              <a:rPr lang="en-US" dirty="0"/>
              <a:t>, after development.</a:t>
            </a:r>
          </a:p>
          <a:p>
            <a:pPr marL="742950" lvl="1" indent="-285750">
              <a:buClr>
                <a:schemeClr val="tx1"/>
              </a:buClr>
              <a:buFont typeface="Arial" panose="020B0604020202020204" pitchFamily="34" charset="0"/>
              <a:buChar char="•"/>
            </a:pPr>
            <a:r>
              <a:rPr lang="en-US" dirty="0"/>
              <a:t>Risk of building something that doesn’t match user needs if requirements change.</a:t>
            </a:r>
          </a:p>
          <a:p>
            <a:endParaRPr lang="en-IN" dirty="0"/>
          </a:p>
        </p:txBody>
      </p:sp>
    </p:spTree>
    <p:extLst>
      <p:ext uri="{BB962C8B-B14F-4D97-AF65-F5344CB8AC3E}">
        <p14:creationId xmlns:p14="http://schemas.microsoft.com/office/powerpoint/2010/main" val="2600808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1F1B1D-6C2D-3C03-0506-B755F5B313D3}"/>
              </a:ext>
            </a:extLst>
          </p:cNvPr>
          <p:cNvSpPr txBox="1"/>
          <p:nvPr/>
        </p:nvSpPr>
        <p:spPr>
          <a:xfrm>
            <a:off x="723899" y="752475"/>
            <a:ext cx="10829926" cy="5970865"/>
          </a:xfrm>
          <a:prstGeom prst="rect">
            <a:avLst/>
          </a:prstGeom>
          <a:noFill/>
        </p:spPr>
        <p:txBody>
          <a:bodyPr wrap="square" rtlCol="0">
            <a:spAutoFit/>
          </a:bodyPr>
          <a:lstStyle/>
          <a:p>
            <a:r>
              <a:rPr lang="en-IN" b="1" u="sng" dirty="0"/>
              <a:t>Agile methodology:</a:t>
            </a:r>
          </a:p>
          <a:p>
            <a:endParaRPr lang="en-IN" u="sng" dirty="0"/>
          </a:p>
          <a:p>
            <a:pPr lvl="0"/>
            <a:r>
              <a:rPr lang="en-IN" b="1" dirty="0"/>
              <a:t>Approach:</a:t>
            </a:r>
            <a:r>
              <a:rPr lang="en-IN" dirty="0"/>
              <a:t> Iterative and incremental, focusing on flexibility, collaboration, and responding to change.</a:t>
            </a:r>
          </a:p>
          <a:p>
            <a:pPr lvl="0"/>
            <a:endParaRPr lang="en-IN" dirty="0"/>
          </a:p>
          <a:p>
            <a:pPr lvl="0"/>
            <a:r>
              <a:rPr lang="en-IN" b="1" dirty="0"/>
              <a:t>Key principles:</a:t>
            </a:r>
            <a:r>
              <a:rPr lang="en-IN" dirty="0"/>
              <a:t> Embraces feedback, breaks work into smaller pieces, and uses short, time-boxed cycles (sprints) to deliver value continuously.</a:t>
            </a:r>
          </a:p>
          <a:p>
            <a:pPr lvl="0"/>
            <a:endParaRPr lang="en-IN" dirty="0"/>
          </a:p>
          <a:p>
            <a:pPr lvl="0"/>
            <a:r>
              <a:rPr lang="en-IN" b="1" dirty="0"/>
              <a:t>Popular frameworks:</a:t>
            </a:r>
            <a:r>
              <a:rPr lang="en-IN" dirty="0"/>
              <a:t> Includes Scrum, Kanban, and Lean.</a:t>
            </a:r>
          </a:p>
          <a:p>
            <a:pPr lvl="0"/>
            <a:endParaRPr lang="en-IN" dirty="0"/>
          </a:p>
          <a:p>
            <a:pPr lvl="0"/>
            <a:r>
              <a:rPr lang="en-IN" b="1" dirty="0"/>
              <a:t>Best for:</a:t>
            </a:r>
            <a:r>
              <a:rPr lang="en-IN" dirty="0"/>
              <a:t> Projects where requirements may evolve or change, and where continuous feedback is valuable. </a:t>
            </a:r>
          </a:p>
          <a:p>
            <a:pPr lvl="0"/>
            <a:endParaRPr lang="en-IN" dirty="0"/>
          </a:p>
          <a:p>
            <a:r>
              <a:rPr lang="en-US" sz="2000" b="1" dirty="0"/>
              <a:t>Role of BA in Agile:</a:t>
            </a:r>
          </a:p>
          <a:p>
            <a:endParaRPr lang="en-US" sz="2000" b="1" dirty="0"/>
          </a:p>
          <a:p>
            <a:pPr marL="742950" lvl="1" indent="-285750">
              <a:buClr>
                <a:schemeClr val="tx1"/>
              </a:buClr>
              <a:buFont typeface="Arial" panose="020B0604020202020204" pitchFamily="34" charset="0"/>
              <a:buChar char="•"/>
            </a:pPr>
            <a:r>
              <a:rPr lang="en-US" dirty="0"/>
              <a:t>Work closely with </a:t>
            </a:r>
            <a:r>
              <a:rPr lang="en-US" b="1" dirty="0"/>
              <a:t>Product Owner and development team</a:t>
            </a:r>
            <a:r>
              <a:rPr lang="en-US" dirty="0"/>
              <a:t>.</a:t>
            </a:r>
          </a:p>
          <a:p>
            <a:pPr marL="742950" lvl="1" indent="-285750">
              <a:buClr>
                <a:schemeClr val="tx1"/>
              </a:buClr>
              <a:buFont typeface="Arial" panose="020B0604020202020204" pitchFamily="34" charset="0"/>
              <a:buChar char="•"/>
            </a:pPr>
            <a:r>
              <a:rPr lang="en-US" dirty="0"/>
              <a:t>Help write and refine </a:t>
            </a:r>
            <a:r>
              <a:rPr lang="en-US" b="1" dirty="0"/>
              <a:t>user stories</a:t>
            </a:r>
            <a:r>
              <a:rPr lang="en-US" dirty="0"/>
              <a:t> with acceptance criteria.</a:t>
            </a:r>
          </a:p>
          <a:p>
            <a:pPr marL="742950" lvl="1" indent="-285750">
              <a:buClr>
                <a:schemeClr val="tx1"/>
              </a:buClr>
              <a:buFont typeface="Arial" panose="020B0604020202020204" pitchFamily="34" charset="0"/>
              <a:buChar char="•"/>
            </a:pPr>
            <a:r>
              <a:rPr lang="en-US" dirty="0"/>
              <a:t>Participate in:</a:t>
            </a:r>
          </a:p>
          <a:p>
            <a:pPr marL="1200150" lvl="2" indent="-285750">
              <a:buClr>
                <a:schemeClr val="tx1"/>
              </a:buClr>
              <a:buFont typeface="Arial" panose="020B0604020202020204" pitchFamily="34" charset="0"/>
              <a:buChar char="•"/>
            </a:pPr>
            <a:r>
              <a:rPr lang="en-US" dirty="0"/>
              <a:t>Sprint planning</a:t>
            </a:r>
          </a:p>
          <a:p>
            <a:pPr marL="1200150" lvl="2" indent="-285750">
              <a:buClr>
                <a:schemeClr val="tx1"/>
              </a:buClr>
              <a:buFont typeface="Arial" panose="020B0604020202020204" pitchFamily="34" charset="0"/>
              <a:buChar char="•"/>
            </a:pPr>
            <a:r>
              <a:rPr lang="en-US" dirty="0"/>
              <a:t>Daily stand-up meetings</a:t>
            </a:r>
          </a:p>
          <a:p>
            <a:pPr marL="1200150" lvl="2" indent="-285750">
              <a:buClr>
                <a:schemeClr val="tx1"/>
              </a:buClr>
              <a:buFont typeface="Arial" panose="020B0604020202020204" pitchFamily="34" charset="0"/>
              <a:buChar char="•"/>
            </a:pPr>
            <a:r>
              <a:rPr lang="en-US" dirty="0"/>
              <a:t>Sprint review</a:t>
            </a:r>
          </a:p>
          <a:p>
            <a:pPr lvl="0"/>
            <a:endParaRPr lang="en-IN" dirty="0"/>
          </a:p>
          <a:p>
            <a:endParaRPr lang="en-IN" dirty="0"/>
          </a:p>
        </p:txBody>
      </p:sp>
    </p:spTree>
    <p:extLst>
      <p:ext uri="{BB962C8B-B14F-4D97-AF65-F5344CB8AC3E}">
        <p14:creationId xmlns:p14="http://schemas.microsoft.com/office/powerpoint/2010/main" val="1996824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700DE9-2A5E-E014-5A93-33CAA1691890}"/>
              </a:ext>
            </a:extLst>
          </p:cNvPr>
          <p:cNvSpPr txBox="1"/>
          <p:nvPr/>
        </p:nvSpPr>
        <p:spPr>
          <a:xfrm>
            <a:off x="1019175" y="1171575"/>
            <a:ext cx="8620437" cy="4370427"/>
          </a:xfrm>
          <a:prstGeom prst="rect">
            <a:avLst/>
          </a:prstGeom>
          <a:noFill/>
        </p:spPr>
        <p:txBody>
          <a:bodyPr wrap="none" rtlCol="0">
            <a:spAutoFit/>
          </a:bodyPr>
          <a:lstStyle/>
          <a:p>
            <a:pPr marL="742950" lvl="1" indent="-285750">
              <a:buClr>
                <a:schemeClr val="tx1"/>
              </a:buClr>
              <a:buFont typeface="Arial" panose="020B0604020202020204" pitchFamily="34" charset="0"/>
              <a:buChar char="•"/>
            </a:pPr>
            <a:r>
              <a:rPr lang="en-US" dirty="0"/>
              <a:t>Continuously </a:t>
            </a:r>
            <a:r>
              <a:rPr lang="en-US" b="1" dirty="0"/>
              <a:t>prioritize and clarify requirements</a:t>
            </a:r>
            <a:r>
              <a:rPr lang="en-US" dirty="0"/>
              <a:t>.</a:t>
            </a:r>
          </a:p>
          <a:p>
            <a:pPr marL="742950" lvl="1" indent="-285750">
              <a:buClr>
                <a:schemeClr val="tx1"/>
              </a:buClr>
              <a:buFont typeface="Arial" panose="020B0604020202020204" pitchFamily="34" charset="0"/>
              <a:buChar char="•"/>
            </a:pPr>
            <a:r>
              <a:rPr lang="en-US" dirty="0"/>
              <a:t>Focus more on </a:t>
            </a:r>
            <a:r>
              <a:rPr lang="en-US" b="1" dirty="0"/>
              <a:t>communication and collaboration</a:t>
            </a:r>
            <a:r>
              <a:rPr lang="en-US" dirty="0"/>
              <a:t> than heavy documentation.</a:t>
            </a:r>
          </a:p>
          <a:p>
            <a:pPr marL="742950" lvl="1" indent="-285750">
              <a:buClr>
                <a:schemeClr val="tx1"/>
              </a:buClr>
              <a:buFont typeface="Arial" panose="020B0604020202020204" pitchFamily="34" charset="0"/>
              <a:buChar char="•"/>
            </a:pPr>
            <a:endParaRPr lang="en-US" dirty="0"/>
          </a:p>
          <a:p>
            <a:pPr>
              <a:buClr>
                <a:schemeClr val="tx1"/>
              </a:buClr>
            </a:pPr>
            <a:r>
              <a:rPr lang="en-US" sz="2000" b="1" dirty="0"/>
              <a:t>Advantages</a:t>
            </a:r>
          </a:p>
          <a:p>
            <a:pPr>
              <a:buClr>
                <a:schemeClr val="tx1"/>
              </a:buClr>
            </a:pPr>
            <a:endParaRPr lang="en-US" b="1" dirty="0"/>
          </a:p>
          <a:p>
            <a:pPr marL="742950" lvl="1" indent="-285750">
              <a:buClr>
                <a:schemeClr val="tx1"/>
              </a:buClr>
              <a:buFont typeface="Arial" panose="020B0604020202020204" pitchFamily="34" charset="0"/>
              <a:buChar char="•"/>
            </a:pPr>
            <a:r>
              <a:rPr lang="en-US" dirty="0"/>
              <a:t>Very </a:t>
            </a:r>
            <a:r>
              <a:rPr lang="en-US" b="1" dirty="0"/>
              <a:t>flexible</a:t>
            </a:r>
            <a:r>
              <a:rPr lang="en-US" dirty="0"/>
              <a:t> with changing requirements.</a:t>
            </a:r>
          </a:p>
          <a:p>
            <a:pPr marL="742950" lvl="1" indent="-285750">
              <a:buClr>
                <a:schemeClr val="tx1"/>
              </a:buClr>
              <a:buFont typeface="Arial" panose="020B0604020202020204" pitchFamily="34" charset="0"/>
              <a:buChar char="•"/>
            </a:pPr>
            <a:r>
              <a:rPr lang="en-US" dirty="0"/>
              <a:t>Regular </a:t>
            </a:r>
            <a:r>
              <a:rPr lang="en-US" b="1" dirty="0"/>
              <a:t>feedback</a:t>
            </a:r>
            <a:r>
              <a:rPr lang="en-US" dirty="0"/>
              <a:t> from users.</a:t>
            </a:r>
          </a:p>
          <a:p>
            <a:pPr marL="742950" lvl="1" indent="-285750">
              <a:buClr>
                <a:schemeClr val="tx1"/>
              </a:buClr>
              <a:buFont typeface="Arial" panose="020B0604020202020204" pitchFamily="34" charset="0"/>
              <a:buChar char="•"/>
            </a:pPr>
            <a:r>
              <a:rPr lang="en-US" dirty="0"/>
              <a:t>Delivers working software </a:t>
            </a:r>
            <a:r>
              <a:rPr lang="en-US" b="1" dirty="0"/>
              <a:t>faster and more frequently</a:t>
            </a:r>
            <a:r>
              <a:rPr lang="en-US" dirty="0"/>
              <a:t>.</a:t>
            </a:r>
          </a:p>
          <a:p>
            <a:pPr>
              <a:buClr>
                <a:schemeClr val="tx1"/>
              </a:buClr>
            </a:pPr>
            <a:endParaRPr lang="en-US" sz="2000" b="1" dirty="0"/>
          </a:p>
          <a:p>
            <a:pPr>
              <a:buClr>
                <a:schemeClr val="tx1"/>
              </a:buClr>
            </a:pPr>
            <a:r>
              <a:rPr lang="en-US" sz="2000" b="1" dirty="0"/>
              <a:t>Disadvantages</a:t>
            </a:r>
          </a:p>
          <a:p>
            <a:pPr>
              <a:buClr>
                <a:schemeClr val="tx1"/>
              </a:buClr>
            </a:pPr>
            <a:endParaRPr lang="en-US" sz="2000" b="1" dirty="0"/>
          </a:p>
          <a:p>
            <a:pPr marL="742950" lvl="1" indent="-285750">
              <a:buClr>
                <a:schemeClr val="tx1"/>
              </a:buClr>
              <a:buFont typeface="Arial" panose="020B0604020202020204" pitchFamily="34" charset="0"/>
              <a:buChar char="•"/>
            </a:pPr>
            <a:r>
              <a:rPr lang="en-US" dirty="0"/>
              <a:t>Needs high </a:t>
            </a:r>
            <a:r>
              <a:rPr lang="en-US" b="1" dirty="0"/>
              <a:t>team involvement</a:t>
            </a:r>
            <a:r>
              <a:rPr lang="en-US" dirty="0"/>
              <a:t> and collaboration.</a:t>
            </a:r>
          </a:p>
          <a:p>
            <a:pPr marL="742950" lvl="1" indent="-285750">
              <a:buClr>
                <a:schemeClr val="tx1"/>
              </a:buClr>
              <a:buFont typeface="Arial" panose="020B0604020202020204" pitchFamily="34" charset="0"/>
              <a:buChar char="•"/>
            </a:pPr>
            <a:r>
              <a:rPr lang="en-US" dirty="0"/>
              <a:t>Documentation may be lighter.</a:t>
            </a:r>
          </a:p>
          <a:p>
            <a:pPr marL="742950" lvl="1" indent="-285750">
              <a:buClr>
                <a:schemeClr val="tx1"/>
              </a:buClr>
              <a:buFont typeface="Arial" panose="020B0604020202020204" pitchFamily="34" charset="0"/>
              <a:buChar char="•"/>
            </a:pPr>
            <a:r>
              <a:rPr lang="en-US" dirty="0"/>
              <a:t>Difficult if stakeholders are not available regularly.</a:t>
            </a:r>
          </a:p>
          <a:p>
            <a:endParaRPr lang="en-IN" dirty="0"/>
          </a:p>
        </p:txBody>
      </p:sp>
    </p:spTree>
    <p:extLst>
      <p:ext uri="{BB962C8B-B14F-4D97-AF65-F5344CB8AC3E}">
        <p14:creationId xmlns:p14="http://schemas.microsoft.com/office/powerpoint/2010/main" val="2726226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E2CC9-FD58-5FD6-6DF9-343822798336}"/>
              </a:ext>
            </a:extLst>
          </p:cNvPr>
          <p:cNvSpPr>
            <a:spLocks noGrp="1"/>
          </p:cNvSpPr>
          <p:nvPr>
            <p:ph type="title"/>
          </p:nvPr>
        </p:nvSpPr>
        <p:spPr/>
        <p:txBody>
          <a:bodyPr/>
          <a:lstStyle/>
          <a:p>
            <a:r>
              <a:rPr lang="en-IN" dirty="0"/>
              <a:t>Stakeholder Management</a:t>
            </a:r>
          </a:p>
        </p:txBody>
      </p:sp>
      <p:sp>
        <p:nvSpPr>
          <p:cNvPr id="3" name="TextBox 2">
            <a:extLst>
              <a:ext uri="{FF2B5EF4-FFF2-40B4-BE49-F238E27FC236}">
                <a16:creationId xmlns:a16="http://schemas.microsoft.com/office/drawing/2014/main" id="{FE9B430A-92CE-0E7F-6D07-D947A5C5DA0D}"/>
              </a:ext>
            </a:extLst>
          </p:cNvPr>
          <p:cNvSpPr txBox="1"/>
          <p:nvPr/>
        </p:nvSpPr>
        <p:spPr>
          <a:xfrm>
            <a:off x="1451579" y="3850085"/>
            <a:ext cx="3305176" cy="2308324"/>
          </a:xfrm>
          <a:prstGeom prst="rect">
            <a:avLst/>
          </a:prstGeom>
          <a:noFill/>
        </p:spPr>
        <p:txBody>
          <a:bodyPr wrap="square" rtlCol="0">
            <a:spAutoFit/>
          </a:bodyPr>
          <a:lstStyle/>
          <a:p>
            <a:r>
              <a:rPr lang="en-US" b="1" dirty="0"/>
              <a:t>Stakeholders include:</a:t>
            </a:r>
          </a:p>
          <a:p>
            <a:endParaRPr lang="en-US" dirty="0"/>
          </a:p>
          <a:p>
            <a:pPr marL="742950" lvl="1" indent="-285750">
              <a:buFont typeface="Arial" panose="020B0604020202020204" pitchFamily="34" charset="0"/>
              <a:buChar char="•"/>
            </a:pPr>
            <a:r>
              <a:rPr lang="en-US" dirty="0"/>
              <a:t>Clients</a:t>
            </a:r>
          </a:p>
          <a:p>
            <a:pPr marL="742950" lvl="1" indent="-285750">
              <a:buFont typeface="Arial" panose="020B0604020202020204" pitchFamily="34" charset="0"/>
              <a:buChar char="•"/>
            </a:pPr>
            <a:r>
              <a:rPr lang="en-US" dirty="0"/>
              <a:t>Managers</a:t>
            </a:r>
          </a:p>
          <a:p>
            <a:pPr marL="742950" lvl="1" indent="-285750">
              <a:buFont typeface="Arial" panose="020B0604020202020204" pitchFamily="34" charset="0"/>
              <a:buChar char="•"/>
            </a:pPr>
            <a:r>
              <a:rPr lang="en-US" dirty="0"/>
              <a:t>Developers</a:t>
            </a:r>
          </a:p>
          <a:p>
            <a:pPr marL="742950" lvl="1" indent="-285750">
              <a:buFont typeface="Arial" panose="020B0604020202020204" pitchFamily="34" charset="0"/>
              <a:buChar char="•"/>
            </a:pPr>
            <a:r>
              <a:rPr lang="en-US" dirty="0"/>
              <a:t>End-users</a:t>
            </a:r>
          </a:p>
          <a:p>
            <a:pPr marL="742950" lvl="1" indent="-285750">
              <a:buFont typeface="Arial" panose="020B0604020202020204" pitchFamily="34" charset="0"/>
              <a:buChar char="•"/>
            </a:pPr>
            <a:r>
              <a:rPr lang="en-US" dirty="0"/>
              <a:t>Vendors</a:t>
            </a:r>
          </a:p>
          <a:p>
            <a:endParaRPr lang="en-IN" dirty="0"/>
          </a:p>
        </p:txBody>
      </p:sp>
      <p:sp>
        <p:nvSpPr>
          <p:cNvPr id="4" name="TextBox 3">
            <a:extLst>
              <a:ext uri="{FF2B5EF4-FFF2-40B4-BE49-F238E27FC236}">
                <a16:creationId xmlns:a16="http://schemas.microsoft.com/office/drawing/2014/main" id="{7BDA4AEE-3692-B578-9030-ED69D0A8F59D}"/>
              </a:ext>
            </a:extLst>
          </p:cNvPr>
          <p:cNvSpPr txBox="1"/>
          <p:nvPr/>
        </p:nvSpPr>
        <p:spPr>
          <a:xfrm>
            <a:off x="5886450" y="3868876"/>
            <a:ext cx="3542958" cy="2031325"/>
          </a:xfrm>
          <a:prstGeom prst="rect">
            <a:avLst/>
          </a:prstGeom>
          <a:noFill/>
        </p:spPr>
        <p:txBody>
          <a:bodyPr wrap="none" rtlCol="0">
            <a:spAutoFit/>
          </a:bodyPr>
          <a:lstStyle/>
          <a:p>
            <a:r>
              <a:rPr lang="en-US" b="1" dirty="0"/>
              <a:t>Key Activities:</a:t>
            </a:r>
          </a:p>
          <a:p>
            <a:endParaRPr lang="en-US" dirty="0"/>
          </a:p>
          <a:p>
            <a:pPr marL="742950" lvl="1" indent="-285750">
              <a:buFont typeface="Arial" panose="020B0604020202020204" pitchFamily="34" charset="0"/>
              <a:buChar char="•"/>
            </a:pPr>
            <a:r>
              <a:rPr lang="en-US" dirty="0"/>
              <a:t>Identifying stakeholders</a:t>
            </a:r>
          </a:p>
          <a:p>
            <a:pPr marL="742950" lvl="1" indent="-285750">
              <a:buFont typeface="Arial" panose="020B0604020202020204" pitchFamily="34" charset="0"/>
              <a:buChar char="•"/>
            </a:pPr>
            <a:r>
              <a:rPr lang="en-US" dirty="0"/>
              <a:t>Understanding expectations</a:t>
            </a:r>
          </a:p>
          <a:p>
            <a:pPr marL="742950" lvl="1" indent="-285750">
              <a:buFont typeface="Arial" panose="020B0604020202020204" pitchFamily="34" charset="0"/>
              <a:buChar char="•"/>
            </a:pPr>
            <a:r>
              <a:rPr lang="en-US" dirty="0"/>
              <a:t>Regular communication</a:t>
            </a:r>
          </a:p>
          <a:p>
            <a:pPr marL="742950" lvl="1" indent="-285750">
              <a:buFont typeface="Arial" panose="020B0604020202020204" pitchFamily="34" charset="0"/>
              <a:buChar char="•"/>
            </a:pPr>
            <a:r>
              <a:rPr lang="en-US" dirty="0"/>
              <a:t>Managing conflicts</a:t>
            </a:r>
          </a:p>
          <a:p>
            <a:endParaRPr lang="en-IN" dirty="0"/>
          </a:p>
        </p:txBody>
      </p:sp>
      <p:sp>
        <p:nvSpPr>
          <p:cNvPr id="5" name="TextBox 4">
            <a:extLst>
              <a:ext uri="{FF2B5EF4-FFF2-40B4-BE49-F238E27FC236}">
                <a16:creationId xmlns:a16="http://schemas.microsoft.com/office/drawing/2014/main" id="{5666DAE7-0607-18DB-9DF0-C59F0088CA1B}"/>
              </a:ext>
            </a:extLst>
          </p:cNvPr>
          <p:cNvSpPr txBox="1"/>
          <p:nvPr/>
        </p:nvSpPr>
        <p:spPr>
          <a:xfrm>
            <a:off x="1451579" y="2114550"/>
            <a:ext cx="10191750" cy="1754326"/>
          </a:xfrm>
          <a:prstGeom prst="rect">
            <a:avLst/>
          </a:prstGeom>
          <a:noFill/>
        </p:spPr>
        <p:txBody>
          <a:bodyPr wrap="square" rtlCol="0">
            <a:spAutoFit/>
          </a:bodyPr>
          <a:lstStyle/>
          <a:p>
            <a:r>
              <a:rPr lang="en-US" dirty="0"/>
              <a:t>Stakeholder management is the process of identifying, analyzing, and engaging with individuals, groups, or organizations that can affect or are affected by a project or business. Its goal is to manage stakeholders' interests and expectations to ensure the initiative's success by building positive relationships and trust. This involves communication, understanding their needs, and managing expectations to achieve the project's objectives.</a:t>
            </a:r>
            <a:endParaRPr lang="en-IN" dirty="0"/>
          </a:p>
          <a:p>
            <a:endParaRPr lang="en-IN" dirty="0"/>
          </a:p>
        </p:txBody>
      </p:sp>
    </p:spTree>
    <p:extLst>
      <p:ext uri="{BB962C8B-B14F-4D97-AF65-F5344CB8AC3E}">
        <p14:creationId xmlns:p14="http://schemas.microsoft.com/office/powerpoint/2010/main" val="20303694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50204-4FF7-7F91-4C0D-CF48B41D5B1C}"/>
              </a:ext>
            </a:extLst>
          </p:cNvPr>
          <p:cNvSpPr>
            <a:spLocks noGrp="1"/>
          </p:cNvSpPr>
          <p:nvPr>
            <p:ph type="title"/>
          </p:nvPr>
        </p:nvSpPr>
        <p:spPr/>
        <p:txBody>
          <a:bodyPr/>
          <a:lstStyle/>
          <a:p>
            <a:r>
              <a:rPr lang="en-IN" dirty="0"/>
              <a:t>Raw Data vs Processed Information</a:t>
            </a:r>
          </a:p>
        </p:txBody>
      </p:sp>
      <p:sp>
        <p:nvSpPr>
          <p:cNvPr id="3" name="TextBox 2">
            <a:extLst>
              <a:ext uri="{FF2B5EF4-FFF2-40B4-BE49-F238E27FC236}">
                <a16:creationId xmlns:a16="http://schemas.microsoft.com/office/drawing/2014/main" id="{0AABC512-C33A-96BF-9991-6E60F86C9586}"/>
              </a:ext>
            </a:extLst>
          </p:cNvPr>
          <p:cNvSpPr txBox="1"/>
          <p:nvPr/>
        </p:nvSpPr>
        <p:spPr>
          <a:xfrm>
            <a:off x="1666875" y="2562225"/>
            <a:ext cx="4108689" cy="2862322"/>
          </a:xfrm>
          <a:prstGeom prst="rect">
            <a:avLst/>
          </a:prstGeom>
          <a:noFill/>
        </p:spPr>
        <p:txBody>
          <a:bodyPr wrap="none" rtlCol="0">
            <a:spAutoFit/>
          </a:bodyPr>
          <a:lstStyle/>
          <a:p>
            <a:r>
              <a:rPr lang="en-US" b="1" dirty="0"/>
              <a:t>Data:</a:t>
            </a:r>
          </a:p>
          <a:p>
            <a:endParaRPr lang="en-US" dirty="0"/>
          </a:p>
          <a:p>
            <a:pPr marL="742950" lvl="1" indent="-285750">
              <a:buFont typeface="Arial" panose="020B0604020202020204" pitchFamily="34" charset="0"/>
              <a:buChar char="•"/>
            </a:pPr>
            <a:r>
              <a:rPr lang="en-US" dirty="0"/>
              <a:t>Raw facts</a:t>
            </a:r>
          </a:p>
          <a:p>
            <a:pPr marL="742950" lvl="1" indent="-285750">
              <a:buFont typeface="Arial" panose="020B0604020202020204" pitchFamily="34" charset="0"/>
              <a:buChar char="•"/>
            </a:pPr>
            <a:r>
              <a:rPr lang="en-US" dirty="0"/>
              <a:t>Example: 100, 200, 300</a:t>
            </a:r>
          </a:p>
          <a:p>
            <a:endParaRPr lang="en-US" dirty="0"/>
          </a:p>
          <a:p>
            <a:r>
              <a:rPr lang="en-US" b="1" dirty="0"/>
              <a:t>Information:</a:t>
            </a:r>
          </a:p>
          <a:p>
            <a:endParaRPr lang="en-US" dirty="0"/>
          </a:p>
          <a:p>
            <a:pPr marL="742950" lvl="1" indent="-285750">
              <a:buFont typeface="Arial" panose="020B0604020202020204" pitchFamily="34" charset="0"/>
              <a:buChar char="•"/>
            </a:pPr>
            <a:r>
              <a:rPr lang="en-US" dirty="0"/>
              <a:t>Processed data with meaning</a:t>
            </a:r>
          </a:p>
          <a:p>
            <a:pPr marL="742950" lvl="1" indent="-285750">
              <a:buFont typeface="Arial" panose="020B0604020202020204" pitchFamily="34" charset="0"/>
              <a:buChar char="•"/>
            </a:pPr>
            <a:r>
              <a:rPr lang="en-US" dirty="0"/>
              <a:t>Example: “Sales increased by 20%”</a:t>
            </a:r>
          </a:p>
          <a:p>
            <a:endParaRPr lang="en-IN" dirty="0"/>
          </a:p>
        </p:txBody>
      </p:sp>
    </p:spTree>
    <p:extLst>
      <p:ext uri="{BB962C8B-B14F-4D97-AF65-F5344CB8AC3E}">
        <p14:creationId xmlns:p14="http://schemas.microsoft.com/office/powerpoint/2010/main" val="539173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9F88F-A374-9714-7CFA-4B9671A51962}"/>
              </a:ext>
            </a:extLst>
          </p:cNvPr>
          <p:cNvSpPr>
            <a:spLocks noGrp="1"/>
          </p:cNvSpPr>
          <p:nvPr>
            <p:ph type="title"/>
          </p:nvPr>
        </p:nvSpPr>
        <p:spPr/>
        <p:txBody>
          <a:bodyPr/>
          <a:lstStyle/>
          <a:p>
            <a:r>
              <a:rPr lang="en-US" dirty="0"/>
              <a:t>The Transformation Process: Data to Information to Knowledge</a:t>
            </a:r>
            <a:endParaRPr lang="en-IN" dirty="0"/>
          </a:p>
        </p:txBody>
      </p:sp>
      <p:sp>
        <p:nvSpPr>
          <p:cNvPr id="3" name="TextBox 2">
            <a:extLst>
              <a:ext uri="{FF2B5EF4-FFF2-40B4-BE49-F238E27FC236}">
                <a16:creationId xmlns:a16="http://schemas.microsoft.com/office/drawing/2014/main" id="{EC8DCA3B-19A9-FAEC-E4EB-94C5F16F83AE}"/>
              </a:ext>
            </a:extLst>
          </p:cNvPr>
          <p:cNvSpPr txBox="1"/>
          <p:nvPr/>
        </p:nvSpPr>
        <p:spPr>
          <a:xfrm>
            <a:off x="1451579" y="2274838"/>
            <a:ext cx="5429250" cy="3416320"/>
          </a:xfrm>
          <a:prstGeom prst="rect">
            <a:avLst/>
          </a:prstGeom>
          <a:noFill/>
        </p:spPr>
        <p:txBody>
          <a:bodyPr wrap="square" rtlCol="0">
            <a:spAutoFit/>
          </a:bodyPr>
          <a:lstStyle/>
          <a:p>
            <a:r>
              <a:rPr lang="en-US" b="1" dirty="0"/>
              <a:t>Data:</a:t>
            </a:r>
            <a:r>
              <a:rPr lang="en-US" dirty="0"/>
              <a:t> Raw numbers</a:t>
            </a:r>
          </a:p>
          <a:p>
            <a:br>
              <a:rPr lang="en-US" dirty="0"/>
            </a:br>
            <a:r>
              <a:rPr lang="en-US" b="1" dirty="0"/>
              <a:t>Information:</a:t>
            </a:r>
            <a:r>
              <a:rPr lang="en-US" dirty="0"/>
              <a:t> Organized insights</a:t>
            </a:r>
          </a:p>
          <a:p>
            <a:br>
              <a:rPr lang="en-US" dirty="0"/>
            </a:br>
            <a:r>
              <a:rPr lang="en-US" b="1" dirty="0"/>
              <a:t>Knowledge:</a:t>
            </a:r>
            <a:r>
              <a:rPr lang="en-US" dirty="0"/>
              <a:t> Actionable understanding</a:t>
            </a:r>
          </a:p>
          <a:p>
            <a:endParaRPr lang="en-US" dirty="0"/>
          </a:p>
          <a:p>
            <a:r>
              <a:rPr lang="en-US" b="1" dirty="0"/>
              <a:t>Example:</a:t>
            </a:r>
          </a:p>
          <a:p>
            <a:endParaRPr lang="en-US" dirty="0"/>
          </a:p>
          <a:p>
            <a:pPr marL="285750" indent="-285750">
              <a:buFont typeface="Arial" panose="020B0604020202020204" pitchFamily="34" charset="0"/>
              <a:buChar char="•"/>
            </a:pPr>
            <a:r>
              <a:rPr lang="en-US" dirty="0"/>
              <a:t>Data: Monthly sales numbers</a:t>
            </a:r>
          </a:p>
          <a:p>
            <a:pPr marL="285750" indent="-285750">
              <a:buFont typeface="Arial" panose="020B0604020202020204" pitchFamily="34" charset="0"/>
              <a:buChar char="•"/>
            </a:pPr>
            <a:r>
              <a:rPr lang="en-US" dirty="0"/>
              <a:t>Information: Sales trend chart</a:t>
            </a:r>
          </a:p>
          <a:p>
            <a:pPr marL="285750" indent="-285750">
              <a:buFont typeface="Arial" panose="020B0604020202020204" pitchFamily="34" charset="0"/>
              <a:buChar char="•"/>
            </a:pPr>
            <a:r>
              <a:rPr lang="en-US" dirty="0"/>
              <a:t>Knowledge: Best-selling product identified</a:t>
            </a:r>
          </a:p>
          <a:p>
            <a:endParaRPr lang="en-IN" dirty="0"/>
          </a:p>
        </p:txBody>
      </p:sp>
    </p:spTree>
    <p:extLst>
      <p:ext uri="{BB962C8B-B14F-4D97-AF65-F5344CB8AC3E}">
        <p14:creationId xmlns:p14="http://schemas.microsoft.com/office/powerpoint/2010/main" val="40951188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5B196-B9FE-BEE6-3F9F-C4B9E888281E}"/>
              </a:ext>
            </a:extLst>
          </p:cNvPr>
          <p:cNvSpPr>
            <a:spLocks noGrp="1"/>
          </p:cNvSpPr>
          <p:nvPr>
            <p:ph type="title"/>
          </p:nvPr>
        </p:nvSpPr>
        <p:spPr/>
        <p:txBody>
          <a:bodyPr/>
          <a:lstStyle/>
          <a:p>
            <a:r>
              <a:rPr lang="en-US" dirty="0"/>
              <a:t>Value of Information in Decision Making</a:t>
            </a:r>
            <a:endParaRPr lang="en-IN" dirty="0"/>
          </a:p>
        </p:txBody>
      </p:sp>
      <p:sp>
        <p:nvSpPr>
          <p:cNvPr id="8" name="TextBox 7">
            <a:extLst>
              <a:ext uri="{FF2B5EF4-FFF2-40B4-BE49-F238E27FC236}">
                <a16:creationId xmlns:a16="http://schemas.microsoft.com/office/drawing/2014/main" id="{2269D192-11B5-87CB-EFF0-13A3A68A0A52}"/>
              </a:ext>
            </a:extLst>
          </p:cNvPr>
          <p:cNvSpPr txBox="1"/>
          <p:nvPr/>
        </p:nvSpPr>
        <p:spPr>
          <a:xfrm>
            <a:off x="1451579" y="2514600"/>
            <a:ext cx="3467809" cy="2031325"/>
          </a:xfrm>
          <a:prstGeom prst="rect">
            <a:avLst/>
          </a:prstGeom>
          <a:noFill/>
        </p:spPr>
        <p:txBody>
          <a:bodyPr wrap="none" rtlCol="0">
            <a:spAutoFit/>
          </a:bodyPr>
          <a:lstStyle/>
          <a:p>
            <a:pPr marL="285750" indent="-285750">
              <a:buFont typeface="Arial" panose="020B0604020202020204" pitchFamily="34" charset="0"/>
              <a:buChar char="•"/>
            </a:pPr>
            <a:r>
              <a:rPr lang="en-IN" dirty="0"/>
              <a:t>Reduces uncertainty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Improves forecasting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Supports strategic planning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Enhances competitive advantage</a:t>
            </a:r>
            <a:endParaRPr lang="en-US" dirty="0"/>
          </a:p>
        </p:txBody>
      </p:sp>
    </p:spTree>
    <p:extLst>
      <p:ext uri="{BB962C8B-B14F-4D97-AF65-F5344CB8AC3E}">
        <p14:creationId xmlns:p14="http://schemas.microsoft.com/office/powerpoint/2010/main" val="459740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B272B-2785-0C1D-58F3-6A393EE2F7B1}"/>
              </a:ext>
            </a:extLst>
          </p:cNvPr>
          <p:cNvSpPr>
            <a:spLocks noGrp="1"/>
          </p:cNvSpPr>
          <p:nvPr>
            <p:ph type="title"/>
          </p:nvPr>
        </p:nvSpPr>
        <p:spPr/>
        <p:txBody>
          <a:bodyPr/>
          <a:lstStyle/>
          <a:p>
            <a:r>
              <a:rPr lang="en-US" dirty="0"/>
              <a:t>Principles of Data-Driven Decision Making</a:t>
            </a:r>
            <a:endParaRPr lang="en-IN" dirty="0"/>
          </a:p>
        </p:txBody>
      </p:sp>
      <p:sp>
        <p:nvSpPr>
          <p:cNvPr id="3" name="TextBox 2">
            <a:extLst>
              <a:ext uri="{FF2B5EF4-FFF2-40B4-BE49-F238E27FC236}">
                <a16:creationId xmlns:a16="http://schemas.microsoft.com/office/drawing/2014/main" id="{387C8D71-3B0F-6858-0F58-202273708F6C}"/>
              </a:ext>
            </a:extLst>
          </p:cNvPr>
          <p:cNvSpPr txBox="1"/>
          <p:nvPr/>
        </p:nvSpPr>
        <p:spPr>
          <a:xfrm>
            <a:off x="1451579" y="2413337"/>
            <a:ext cx="3156377" cy="2031325"/>
          </a:xfrm>
          <a:prstGeom prst="rect">
            <a:avLst/>
          </a:prstGeom>
          <a:noFill/>
        </p:spPr>
        <p:txBody>
          <a:bodyPr wrap="none" rtlCol="0">
            <a:spAutoFit/>
          </a:bodyPr>
          <a:lstStyle/>
          <a:p>
            <a:pPr marL="285750" indent="-285750">
              <a:buFont typeface="Arial" panose="020B0604020202020204" pitchFamily="34" charset="0"/>
              <a:buChar char="•"/>
            </a:pPr>
            <a:r>
              <a:rPr lang="en-IN" dirty="0"/>
              <a:t>Decisions based on evidence</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Use analytics tools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Avoid bias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Continuous measurement</a:t>
            </a:r>
          </a:p>
        </p:txBody>
      </p:sp>
    </p:spTree>
    <p:extLst>
      <p:ext uri="{BB962C8B-B14F-4D97-AF65-F5344CB8AC3E}">
        <p14:creationId xmlns:p14="http://schemas.microsoft.com/office/powerpoint/2010/main" val="728847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80E5E-57CB-5DCF-EF64-0A1610E3B758}"/>
              </a:ext>
            </a:extLst>
          </p:cNvPr>
          <p:cNvSpPr>
            <a:spLocks noGrp="1"/>
          </p:cNvSpPr>
          <p:nvPr>
            <p:ph type="title"/>
          </p:nvPr>
        </p:nvSpPr>
        <p:spPr/>
        <p:txBody>
          <a:bodyPr/>
          <a:lstStyle/>
          <a:p>
            <a:r>
              <a:rPr lang="en-IN" dirty="0"/>
              <a:t>Benefits of Using Data FOR DECISIONS</a:t>
            </a:r>
          </a:p>
        </p:txBody>
      </p:sp>
      <p:sp>
        <p:nvSpPr>
          <p:cNvPr id="4" name="TextBox 3">
            <a:extLst>
              <a:ext uri="{FF2B5EF4-FFF2-40B4-BE49-F238E27FC236}">
                <a16:creationId xmlns:a16="http://schemas.microsoft.com/office/drawing/2014/main" id="{3B50B842-6E26-D9E4-4942-8217F11C4EE9}"/>
              </a:ext>
            </a:extLst>
          </p:cNvPr>
          <p:cNvSpPr txBox="1"/>
          <p:nvPr/>
        </p:nvSpPr>
        <p:spPr>
          <a:xfrm>
            <a:off x="1451579" y="2399823"/>
            <a:ext cx="6100762" cy="2585323"/>
          </a:xfrm>
          <a:prstGeom prst="rect">
            <a:avLst/>
          </a:prstGeom>
          <a:noFill/>
        </p:spPr>
        <p:txBody>
          <a:bodyPr wrap="square">
            <a:spAutoFit/>
          </a:bodyPr>
          <a:lstStyle/>
          <a:p>
            <a:pPr marL="742950" lvl="1" indent="-285750">
              <a:buFont typeface="Arial" panose="020B0604020202020204" pitchFamily="34" charset="0"/>
              <a:buChar char="•"/>
            </a:pPr>
            <a:r>
              <a:rPr lang="en-US" dirty="0"/>
              <a:t>Increased efficiency</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Better customer understanding</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Risk reduction</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Improved ROI</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dirty="0"/>
              <a:t>Competitive advantage</a:t>
            </a:r>
          </a:p>
        </p:txBody>
      </p:sp>
    </p:spTree>
    <p:extLst>
      <p:ext uri="{BB962C8B-B14F-4D97-AF65-F5344CB8AC3E}">
        <p14:creationId xmlns:p14="http://schemas.microsoft.com/office/powerpoint/2010/main" val="2816904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7E55C-4A83-D1EF-EFFE-F154DD8BDCF7}"/>
              </a:ext>
            </a:extLst>
          </p:cNvPr>
          <p:cNvSpPr>
            <a:spLocks noGrp="1"/>
          </p:cNvSpPr>
          <p:nvPr>
            <p:ph type="title"/>
          </p:nvPr>
        </p:nvSpPr>
        <p:spPr/>
        <p:txBody>
          <a:bodyPr/>
          <a:lstStyle/>
          <a:p>
            <a:r>
              <a:rPr lang="en-IN" dirty="0"/>
              <a:t>Steps in Data-Driven Decision Process</a:t>
            </a:r>
          </a:p>
        </p:txBody>
      </p:sp>
      <p:sp>
        <p:nvSpPr>
          <p:cNvPr id="4" name="TextBox 3">
            <a:extLst>
              <a:ext uri="{FF2B5EF4-FFF2-40B4-BE49-F238E27FC236}">
                <a16:creationId xmlns:a16="http://schemas.microsoft.com/office/drawing/2014/main" id="{43D9E21A-7990-A1EA-CE71-A6B826B3EB3A}"/>
              </a:ext>
            </a:extLst>
          </p:cNvPr>
          <p:cNvSpPr txBox="1"/>
          <p:nvPr/>
        </p:nvSpPr>
        <p:spPr>
          <a:xfrm>
            <a:off x="1451579" y="2451824"/>
            <a:ext cx="6100762" cy="3139321"/>
          </a:xfrm>
          <a:prstGeom prst="rect">
            <a:avLst/>
          </a:prstGeom>
          <a:noFill/>
        </p:spPr>
        <p:txBody>
          <a:bodyPr wrap="square">
            <a:spAutoFit/>
          </a:bodyPr>
          <a:lstStyle/>
          <a:p>
            <a:pPr marL="742950" lvl="1" indent="-285750">
              <a:buFont typeface="Arial" panose="020B0604020202020204" pitchFamily="34" charset="0"/>
              <a:buChar char="•"/>
            </a:pPr>
            <a:r>
              <a:rPr lang="en-IN" dirty="0"/>
              <a:t>Define the problem</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r>
              <a:rPr lang="en-IN" dirty="0"/>
              <a:t>Collect data</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r>
              <a:rPr lang="en-IN" dirty="0" err="1"/>
              <a:t>Analyze</a:t>
            </a:r>
            <a:r>
              <a:rPr lang="en-IN" dirty="0"/>
              <a:t> data</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r>
              <a:rPr lang="en-IN" dirty="0"/>
              <a:t>Interpret results</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r>
              <a:rPr lang="en-IN" dirty="0"/>
              <a:t>Make decision</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r>
              <a:rPr lang="en-IN" dirty="0"/>
              <a:t>Monitor outcomes</a:t>
            </a:r>
          </a:p>
        </p:txBody>
      </p:sp>
    </p:spTree>
    <p:extLst>
      <p:ext uri="{BB962C8B-B14F-4D97-AF65-F5344CB8AC3E}">
        <p14:creationId xmlns:p14="http://schemas.microsoft.com/office/powerpoint/2010/main" val="3188943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507FD-D0DE-2AAB-CCCF-6D459AED8611}"/>
              </a:ext>
            </a:extLst>
          </p:cNvPr>
          <p:cNvSpPr>
            <a:spLocks noGrp="1"/>
          </p:cNvSpPr>
          <p:nvPr>
            <p:ph type="title"/>
          </p:nvPr>
        </p:nvSpPr>
        <p:spPr/>
        <p:txBody>
          <a:bodyPr/>
          <a:lstStyle/>
          <a:p>
            <a:r>
              <a:rPr lang="en-IN" dirty="0"/>
              <a:t>Challenges and Pitfalls IN DATA-DRIVEN APPROACHES</a:t>
            </a:r>
          </a:p>
        </p:txBody>
      </p:sp>
      <p:sp>
        <p:nvSpPr>
          <p:cNvPr id="4" name="TextBox 3">
            <a:extLst>
              <a:ext uri="{FF2B5EF4-FFF2-40B4-BE49-F238E27FC236}">
                <a16:creationId xmlns:a16="http://schemas.microsoft.com/office/drawing/2014/main" id="{251E0F8A-3AC1-E545-75AC-EF5C9F157A0E}"/>
              </a:ext>
            </a:extLst>
          </p:cNvPr>
          <p:cNvSpPr txBox="1"/>
          <p:nvPr/>
        </p:nvSpPr>
        <p:spPr>
          <a:xfrm>
            <a:off x="1451579" y="2362200"/>
            <a:ext cx="2736327" cy="2862322"/>
          </a:xfrm>
          <a:prstGeom prst="rect">
            <a:avLst/>
          </a:prstGeom>
          <a:noFill/>
        </p:spPr>
        <p:txBody>
          <a:bodyPr wrap="none" rtlCol="0">
            <a:spAutoFit/>
          </a:bodyPr>
          <a:lstStyle/>
          <a:p>
            <a:pPr marL="742950" lvl="1" indent="-285750">
              <a:buFont typeface="Arial" panose="020B0604020202020204" pitchFamily="34" charset="0"/>
              <a:buChar char="•"/>
            </a:pPr>
            <a:r>
              <a:rPr lang="en-IN" sz="2000" dirty="0"/>
              <a:t>Poor data quality</a:t>
            </a:r>
          </a:p>
          <a:p>
            <a:pPr marL="742950" lvl="1" indent="-285750">
              <a:buFont typeface="Arial" panose="020B0604020202020204" pitchFamily="34" charset="0"/>
              <a:buChar char="•"/>
            </a:pPr>
            <a:endParaRPr lang="en-IN" sz="2000" dirty="0"/>
          </a:p>
          <a:p>
            <a:pPr marL="742950" lvl="1" indent="-285750">
              <a:buFont typeface="Arial" panose="020B0604020202020204" pitchFamily="34" charset="0"/>
              <a:buChar char="•"/>
            </a:pPr>
            <a:r>
              <a:rPr lang="en-IN" sz="2000" dirty="0"/>
              <a:t>Data overload</a:t>
            </a:r>
          </a:p>
          <a:p>
            <a:pPr marL="742950" lvl="1" indent="-285750">
              <a:buFont typeface="Arial" panose="020B0604020202020204" pitchFamily="34" charset="0"/>
              <a:buChar char="•"/>
            </a:pPr>
            <a:endParaRPr lang="en-IN" sz="2000" dirty="0"/>
          </a:p>
          <a:p>
            <a:pPr marL="742950" lvl="1" indent="-285750">
              <a:buFont typeface="Arial" panose="020B0604020202020204" pitchFamily="34" charset="0"/>
              <a:buChar char="•"/>
            </a:pPr>
            <a:r>
              <a:rPr lang="en-IN" sz="2000" dirty="0"/>
              <a:t>Lack of skills</a:t>
            </a:r>
          </a:p>
          <a:p>
            <a:pPr marL="742950" lvl="1" indent="-285750">
              <a:buFont typeface="Arial" panose="020B0604020202020204" pitchFamily="34" charset="0"/>
              <a:buChar char="•"/>
            </a:pPr>
            <a:endParaRPr lang="en-IN" sz="2000" dirty="0"/>
          </a:p>
          <a:p>
            <a:pPr marL="742950" lvl="1" indent="-285750">
              <a:buFont typeface="Arial" panose="020B0604020202020204" pitchFamily="34" charset="0"/>
              <a:buChar char="•"/>
            </a:pPr>
            <a:r>
              <a:rPr lang="en-IN" sz="2000" dirty="0"/>
              <a:t>Misinterpretation</a:t>
            </a:r>
          </a:p>
          <a:p>
            <a:pPr marL="742950" lvl="1" indent="-285750">
              <a:buFont typeface="Arial" panose="020B0604020202020204" pitchFamily="34" charset="0"/>
              <a:buChar char="•"/>
            </a:pPr>
            <a:endParaRPr lang="en-IN" sz="2000" dirty="0"/>
          </a:p>
          <a:p>
            <a:pPr marL="742950" lvl="1" indent="-285750">
              <a:buFont typeface="Arial" panose="020B0604020202020204" pitchFamily="34" charset="0"/>
              <a:buChar char="•"/>
            </a:pPr>
            <a:r>
              <a:rPr lang="en-IN" sz="2000" dirty="0"/>
              <a:t>Privacy concerns</a:t>
            </a:r>
          </a:p>
        </p:txBody>
      </p:sp>
    </p:spTree>
    <p:extLst>
      <p:ext uri="{BB962C8B-B14F-4D97-AF65-F5344CB8AC3E}">
        <p14:creationId xmlns:p14="http://schemas.microsoft.com/office/powerpoint/2010/main" val="4182332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15E33-2C1B-7C00-5EFF-F660B673C37B}"/>
              </a:ext>
            </a:extLst>
          </p:cNvPr>
          <p:cNvSpPr>
            <a:spLocks noGrp="1"/>
          </p:cNvSpPr>
          <p:nvPr>
            <p:ph type="title"/>
          </p:nvPr>
        </p:nvSpPr>
        <p:spPr/>
        <p:txBody>
          <a:bodyPr/>
          <a:lstStyle/>
          <a:p>
            <a:r>
              <a:rPr lang="en-US" b="1" dirty="0"/>
              <a:t>What Is Scenario Analysis?</a:t>
            </a:r>
            <a:endParaRPr lang="en-IN" dirty="0"/>
          </a:p>
        </p:txBody>
      </p:sp>
      <p:sp>
        <p:nvSpPr>
          <p:cNvPr id="3" name="TextBox 2">
            <a:extLst>
              <a:ext uri="{FF2B5EF4-FFF2-40B4-BE49-F238E27FC236}">
                <a16:creationId xmlns:a16="http://schemas.microsoft.com/office/drawing/2014/main" id="{A8511725-8055-0F46-FA6B-750DA2024CEE}"/>
              </a:ext>
            </a:extLst>
          </p:cNvPr>
          <p:cNvSpPr txBox="1"/>
          <p:nvPr/>
        </p:nvSpPr>
        <p:spPr>
          <a:xfrm>
            <a:off x="1451578" y="2095500"/>
            <a:ext cx="9603275" cy="4247317"/>
          </a:xfrm>
          <a:prstGeom prst="rect">
            <a:avLst/>
          </a:prstGeom>
          <a:noFill/>
        </p:spPr>
        <p:txBody>
          <a:bodyPr wrap="square" rtlCol="0">
            <a:spAutoFit/>
          </a:bodyPr>
          <a:lstStyle/>
          <a:p>
            <a:r>
              <a:rPr lang="en-US" b="1" dirty="0"/>
              <a:t>Scenario analysis</a:t>
            </a:r>
            <a:r>
              <a:rPr lang="en-US" dirty="0"/>
              <a:t> in business is the process of creating and evaluating different possible future situations (scenarios) — such as best case, worst case, and most likely case — to understand their impact on the organization and make better decisions.</a:t>
            </a:r>
          </a:p>
          <a:p>
            <a:endParaRPr lang="en-US" dirty="0"/>
          </a:p>
          <a:p>
            <a:r>
              <a:rPr lang="en-IN" b="1" dirty="0"/>
              <a:t>Purpose of Scenario Analysis:</a:t>
            </a:r>
          </a:p>
          <a:p>
            <a:endParaRPr lang="en-IN" b="1" dirty="0"/>
          </a:p>
          <a:p>
            <a:pPr marL="285750" indent="-285750">
              <a:buFont typeface="Arial" panose="020B0604020202020204" pitchFamily="34" charset="0"/>
              <a:buChar char="•"/>
            </a:pPr>
            <a:r>
              <a:rPr lang="en-IN" dirty="0"/>
              <a:t>To </a:t>
            </a:r>
            <a:r>
              <a:rPr lang="en-IN" b="1" dirty="0"/>
              <a:t>anticipate risks and opportunities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see how changes in key factors (price, demand, cost, interest rates, etc.) will </a:t>
            </a:r>
            <a:r>
              <a:rPr lang="en-IN" b="1" dirty="0"/>
              <a:t>affect profit, cash flow, growth, etc.</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support </a:t>
            </a:r>
            <a:r>
              <a:rPr lang="en-IN" b="1" dirty="0"/>
              <a:t>strategic planning</a:t>
            </a:r>
            <a:r>
              <a:rPr lang="en-IN" dirty="0"/>
              <a:t> and </a:t>
            </a:r>
            <a:r>
              <a:rPr lang="en-IN" b="1" dirty="0"/>
              <a:t>decision-making</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To avoid being shocked by sudden changes in the market or environment</a:t>
            </a:r>
          </a:p>
          <a:p>
            <a:endParaRPr lang="en-IN" dirty="0"/>
          </a:p>
        </p:txBody>
      </p:sp>
    </p:spTree>
    <p:extLst>
      <p:ext uri="{BB962C8B-B14F-4D97-AF65-F5344CB8AC3E}">
        <p14:creationId xmlns:p14="http://schemas.microsoft.com/office/powerpoint/2010/main" val="9388689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6F05DE-1A57-7403-BC9E-0695D62A0444}"/>
              </a:ext>
            </a:extLst>
          </p:cNvPr>
          <p:cNvSpPr txBox="1"/>
          <p:nvPr/>
        </p:nvSpPr>
        <p:spPr>
          <a:xfrm>
            <a:off x="1143000" y="762000"/>
            <a:ext cx="4448175" cy="5201424"/>
          </a:xfrm>
          <a:prstGeom prst="rect">
            <a:avLst/>
          </a:prstGeom>
          <a:noFill/>
        </p:spPr>
        <p:txBody>
          <a:bodyPr wrap="square" rtlCol="0">
            <a:spAutoFit/>
          </a:bodyPr>
          <a:lstStyle/>
          <a:p>
            <a:r>
              <a:rPr lang="en-IN" sz="2000" b="1" dirty="0"/>
              <a:t>Examples:</a:t>
            </a:r>
          </a:p>
          <a:p>
            <a:endParaRPr lang="en-IN" sz="2000" b="1" dirty="0"/>
          </a:p>
          <a:p>
            <a:pPr marL="457200" indent="-457200">
              <a:buAutoNum type="arabicPeriod"/>
            </a:pPr>
            <a:r>
              <a:rPr lang="en-US" sz="2000" b="1" dirty="0"/>
              <a:t>Sales Revenue Scenario</a:t>
            </a:r>
          </a:p>
          <a:p>
            <a:pPr marL="457200" indent="-457200">
              <a:buAutoNum type="arabicPeriod"/>
            </a:pPr>
            <a:endParaRPr lang="en-US" sz="2000" b="1" dirty="0"/>
          </a:p>
          <a:p>
            <a:r>
              <a:rPr lang="en-US" b="1" dirty="0"/>
              <a:t>Business Question:</a:t>
            </a:r>
          </a:p>
          <a:p>
            <a:br>
              <a:rPr lang="en-US" b="1" dirty="0"/>
            </a:br>
            <a:r>
              <a:rPr lang="en-US" dirty="0"/>
              <a:t>“What happens to our profit if sales go up or down?”</a:t>
            </a:r>
          </a:p>
          <a:p>
            <a:endParaRPr lang="en-US" dirty="0"/>
          </a:p>
          <a:p>
            <a:r>
              <a:rPr lang="en-US" b="1" dirty="0"/>
              <a:t>Scenarios:</a:t>
            </a:r>
          </a:p>
          <a:p>
            <a:endParaRPr lang="en-US" b="1" dirty="0"/>
          </a:p>
          <a:p>
            <a:pPr marL="285750" indent="-285750">
              <a:buClr>
                <a:schemeClr val="tx1"/>
              </a:buClr>
              <a:buFont typeface="Arial" panose="020B0604020202020204" pitchFamily="34" charset="0"/>
              <a:buChar char="•"/>
            </a:pPr>
            <a:r>
              <a:rPr lang="en-US" dirty="0"/>
              <a:t>Best-case: Sales increase by 30%</a:t>
            </a:r>
          </a:p>
          <a:p>
            <a:pPr marL="285750" indent="-285750">
              <a:buClr>
                <a:schemeClr val="tx1"/>
              </a:buClr>
              <a:buFont typeface="Arial" panose="020B0604020202020204" pitchFamily="34" charset="0"/>
              <a:buChar char="•"/>
            </a:pPr>
            <a:endParaRPr lang="en-US" dirty="0"/>
          </a:p>
          <a:p>
            <a:pPr marL="285750" indent="-285750">
              <a:buClr>
                <a:schemeClr val="tx1"/>
              </a:buClr>
              <a:buFont typeface="Arial" panose="020B0604020202020204" pitchFamily="34" charset="0"/>
              <a:buChar char="•"/>
            </a:pPr>
            <a:r>
              <a:rPr lang="en-US" dirty="0"/>
              <a:t>Most-likely: Sales increase by 10%</a:t>
            </a:r>
          </a:p>
          <a:p>
            <a:pPr marL="285750" indent="-285750">
              <a:buClr>
                <a:schemeClr val="tx1"/>
              </a:buClr>
              <a:buFont typeface="Arial" panose="020B0604020202020204" pitchFamily="34" charset="0"/>
              <a:buChar char="•"/>
            </a:pPr>
            <a:endParaRPr lang="en-US" dirty="0"/>
          </a:p>
          <a:p>
            <a:pPr marL="285750" indent="-285750">
              <a:buClr>
                <a:schemeClr val="tx1"/>
              </a:buClr>
              <a:buFont typeface="Arial" panose="020B0604020202020204" pitchFamily="34" charset="0"/>
              <a:buChar char="•"/>
            </a:pPr>
            <a:r>
              <a:rPr lang="en-US" dirty="0"/>
              <a:t>Worst-case: Sales decrease by 15%</a:t>
            </a:r>
          </a:p>
          <a:p>
            <a:pPr marL="285750" indent="-285750">
              <a:buClr>
                <a:schemeClr val="tx1"/>
              </a:buClr>
              <a:buFont typeface="Arial" panose="020B0604020202020204" pitchFamily="34" charset="0"/>
              <a:buChar char="•"/>
            </a:pPr>
            <a:endParaRPr lang="en-US" dirty="0"/>
          </a:p>
          <a:p>
            <a:endParaRPr lang="en-IN" dirty="0"/>
          </a:p>
        </p:txBody>
      </p:sp>
      <p:sp>
        <p:nvSpPr>
          <p:cNvPr id="3" name="TextBox 2">
            <a:extLst>
              <a:ext uri="{FF2B5EF4-FFF2-40B4-BE49-F238E27FC236}">
                <a16:creationId xmlns:a16="http://schemas.microsoft.com/office/drawing/2014/main" id="{139F6D35-9B66-898F-3DF1-33EB8F93BBAE}"/>
              </a:ext>
            </a:extLst>
          </p:cNvPr>
          <p:cNvSpPr txBox="1"/>
          <p:nvPr/>
        </p:nvSpPr>
        <p:spPr>
          <a:xfrm>
            <a:off x="6381750" y="1997839"/>
            <a:ext cx="4371975" cy="3139321"/>
          </a:xfrm>
          <a:prstGeom prst="rect">
            <a:avLst/>
          </a:prstGeom>
          <a:noFill/>
        </p:spPr>
        <p:txBody>
          <a:bodyPr wrap="square" rtlCol="0">
            <a:spAutoFit/>
          </a:bodyPr>
          <a:lstStyle/>
          <a:p>
            <a:r>
              <a:rPr lang="en-US" b="1" dirty="0"/>
              <a:t>Analysis:</a:t>
            </a:r>
          </a:p>
          <a:p>
            <a:br>
              <a:rPr lang="en-US" dirty="0"/>
            </a:br>
            <a:r>
              <a:rPr lang="en-US" dirty="0"/>
              <a:t>The company calculates revenue and profit under each scenario and decides:</a:t>
            </a:r>
          </a:p>
          <a:p>
            <a:endParaRPr lang="en-US" dirty="0"/>
          </a:p>
          <a:p>
            <a:pPr marL="285750" indent="-285750">
              <a:buClr>
                <a:schemeClr val="tx1"/>
              </a:buClr>
              <a:buFont typeface="Arial" panose="020B0604020202020204" pitchFamily="34" charset="0"/>
              <a:buChar char="•"/>
            </a:pPr>
            <a:r>
              <a:rPr lang="en-US" dirty="0"/>
              <a:t>How much stock to buy</a:t>
            </a:r>
          </a:p>
          <a:p>
            <a:pPr marL="285750" indent="-285750">
              <a:buClr>
                <a:schemeClr val="tx1"/>
              </a:buClr>
              <a:buFont typeface="Arial" panose="020B0604020202020204" pitchFamily="34" charset="0"/>
              <a:buChar char="•"/>
            </a:pPr>
            <a:r>
              <a:rPr lang="en-US" dirty="0"/>
              <a:t>Whether to hire more staff</a:t>
            </a:r>
          </a:p>
          <a:p>
            <a:pPr marL="285750" indent="-285750">
              <a:buClr>
                <a:schemeClr val="tx1"/>
              </a:buClr>
              <a:buFont typeface="Arial" panose="020B0604020202020204" pitchFamily="34" charset="0"/>
              <a:buChar char="•"/>
            </a:pPr>
            <a:r>
              <a:rPr lang="en-US" dirty="0"/>
              <a:t>Whether to offer discounts</a:t>
            </a:r>
          </a:p>
          <a:p>
            <a:endParaRPr lang="en-US" b="1" dirty="0"/>
          </a:p>
          <a:p>
            <a:r>
              <a:rPr lang="en-US" b="1" dirty="0"/>
              <a:t>Helps in sales planning and budgeting.</a:t>
            </a:r>
          </a:p>
          <a:p>
            <a:endParaRPr lang="en-IN" dirty="0"/>
          </a:p>
        </p:txBody>
      </p:sp>
    </p:spTree>
    <p:extLst>
      <p:ext uri="{BB962C8B-B14F-4D97-AF65-F5344CB8AC3E}">
        <p14:creationId xmlns:p14="http://schemas.microsoft.com/office/powerpoint/2010/main" val="19733366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8FE098-9581-0C19-57D7-7D6BB0BA1159}"/>
              </a:ext>
            </a:extLst>
          </p:cNvPr>
          <p:cNvSpPr txBox="1"/>
          <p:nvPr/>
        </p:nvSpPr>
        <p:spPr>
          <a:xfrm>
            <a:off x="828676" y="981075"/>
            <a:ext cx="5181600" cy="5109091"/>
          </a:xfrm>
          <a:prstGeom prst="rect">
            <a:avLst/>
          </a:prstGeom>
          <a:noFill/>
        </p:spPr>
        <p:txBody>
          <a:bodyPr wrap="square" rtlCol="0">
            <a:spAutoFit/>
          </a:bodyPr>
          <a:lstStyle/>
          <a:p>
            <a:r>
              <a:rPr lang="en-US" sz="2000" b="1" dirty="0"/>
              <a:t>2. New Product Launch Scenario</a:t>
            </a:r>
          </a:p>
          <a:p>
            <a:endParaRPr lang="en-US" b="1" dirty="0"/>
          </a:p>
          <a:p>
            <a:r>
              <a:rPr lang="en-US" b="1" dirty="0"/>
              <a:t>Business Question:</a:t>
            </a:r>
          </a:p>
          <a:p>
            <a:br>
              <a:rPr lang="en-US" dirty="0"/>
            </a:br>
            <a:r>
              <a:rPr lang="en-US" dirty="0"/>
              <a:t>“Should we launch a new product next year?”</a:t>
            </a:r>
          </a:p>
          <a:p>
            <a:endParaRPr lang="en-US" dirty="0"/>
          </a:p>
          <a:p>
            <a:r>
              <a:rPr lang="en-US" b="1" dirty="0"/>
              <a:t>Scenarios:</a:t>
            </a:r>
          </a:p>
          <a:p>
            <a:endParaRPr lang="en-US" dirty="0"/>
          </a:p>
          <a:p>
            <a:pPr marL="742950" lvl="1" indent="-285750">
              <a:buClr>
                <a:schemeClr val="tx1"/>
              </a:buClr>
              <a:buFont typeface="Arial" panose="020B0604020202020204" pitchFamily="34" charset="0"/>
              <a:buChar char="•"/>
            </a:pPr>
            <a:r>
              <a:rPr lang="en-US" b="1" dirty="0"/>
              <a:t>Best-case:</a:t>
            </a:r>
            <a:r>
              <a:rPr lang="en-US" dirty="0"/>
              <a:t> High customer demand, low competition → high profit</a:t>
            </a:r>
          </a:p>
          <a:p>
            <a:pPr marL="742950" lvl="1" indent="-285750">
              <a:buClr>
                <a:schemeClr val="tx1"/>
              </a:buClr>
              <a:buFont typeface="Arial" panose="020B0604020202020204" pitchFamily="34" charset="0"/>
              <a:buChar char="•"/>
            </a:pPr>
            <a:endParaRPr lang="en-US" dirty="0"/>
          </a:p>
          <a:p>
            <a:pPr marL="742950" lvl="1" indent="-285750">
              <a:buClr>
                <a:schemeClr val="tx1"/>
              </a:buClr>
              <a:buFont typeface="Arial" panose="020B0604020202020204" pitchFamily="34" charset="0"/>
              <a:buChar char="•"/>
            </a:pPr>
            <a:r>
              <a:rPr lang="en-US" b="1" dirty="0"/>
              <a:t>Most-likely:</a:t>
            </a:r>
            <a:r>
              <a:rPr lang="en-US" dirty="0"/>
              <a:t> Moderate demand → average profit</a:t>
            </a:r>
          </a:p>
          <a:p>
            <a:pPr marL="742950" lvl="1" indent="-285750">
              <a:buClr>
                <a:schemeClr val="tx1"/>
              </a:buClr>
              <a:buFont typeface="Arial" panose="020B0604020202020204" pitchFamily="34" charset="0"/>
              <a:buChar char="•"/>
            </a:pPr>
            <a:endParaRPr lang="en-US" dirty="0"/>
          </a:p>
          <a:p>
            <a:pPr marL="742950" lvl="1" indent="-285750">
              <a:buClr>
                <a:schemeClr val="tx1"/>
              </a:buClr>
              <a:buFont typeface="Arial" panose="020B0604020202020204" pitchFamily="34" charset="0"/>
              <a:buChar char="•"/>
            </a:pPr>
            <a:r>
              <a:rPr lang="en-US" b="1" dirty="0"/>
              <a:t>Worst-case:</a:t>
            </a:r>
            <a:r>
              <a:rPr lang="en-US" dirty="0"/>
              <a:t> Low demand, high marketing cost → loss</a:t>
            </a:r>
          </a:p>
          <a:p>
            <a:pPr>
              <a:buClr>
                <a:schemeClr val="tx1"/>
              </a:buClr>
              <a:buFont typeface="Wingdings" panose="05000000000000000000" pitchFamily="2" charset="2"/>
              <a:buChar char="§"/>
            </a:pPr>
            <a:endParaRPr lang="en-US" dirty="0"/>
          </a:p>
          <a:p>
            <a:endParaRPr lang="en-IN" dirty="0"/>
          </a:p>
        </p:txBody>
      </p:sp>
      <p:sp>
        <p:nvSpPr>
          <p:cNvPr id="3" name="TextBox 2">
            <a:extLst>
              <a:ext uri="{FF2B5EF4-FFF2-40B4-BE49-F238E27FC236}">
                <a16:creationId xmlns:a16="http://schemas.microsoft.com/office/drawing/2014/main" id="{D92F46CC-A527-8818-51B4-677690E0AB66}"/>
              </a:ext>
            </a:extLst>
          </p:cNvPr>
          <p:cNvSpPr txBox="1"/>
          <p:nvPr/>
        </p:nvSpPr>
        <p:spPr>
          <a:xfrm>
            <a:off x="6915151" y="1582340"/>
            <a:ext cx="4581524" cy="3693319"/>
          </a:xfrm>
          <a:prstGeom prst="rect">
            <a:avLst/>
          </a:prstGeom>
          <a:noFill/>
        </p:spPr>
        <p:txBody>
          <a:bodyPr wrap="square" rtlCol="0">
            <a:spAutoFit/>
          </a:bodyPr>
          <a:lstStyle/>
          <a:p>
            <a:r>
              <a:rPr lang="en-US" b="1" dirty="0"/>
              <a:t>Analysis:</a:t>
            </a:r>
          </a:p>
          <a:p>
            <a:br>
              <a:rPr lang="en-US" dirty="0"/>
            </a:br>
            <a:r>
              <a:rPr lang="en-US" dirty="0"/>
              <a:t>The business estimates:</a:t>
            </a:r>
          </a:p>
          <a:p>
            <a:endParaRPr lang="en-US" dirty="0"/>
          </a:p>
          <a:p>
            <a:pPr marL="742950" lvl="1" indent="-285750">
              <a:buClr>
                <a:schemeClr val="tx1"/>
              </a:buClr>
              <a:buFont typeface="Arial" panose="020B0604020202020204" pitchFamily="34" charset="0"/>
              <a:buChar char="•"/>
            </a:pPr>
            <a:r>
              <a:rPr lang="en-US" b="1" dirty="0"/>
              <a:t>Expected sales</a:t>
            </a:r>
          </a:p>
          <a:p>
            <a:pPr marL="742950" lvl="1" indent="-285750">
              <a:buClr>
                <a:schemeClr val="tx1"/>
              </a:buClr>
              <a:buFont typeface="Arial" panose="020B0604020202020204" pitchFamily="34" charset="0"/>
              <a:buChar char="•"/>
            </a:pPr>
            <a:r>
              <a:rPr lang="en-US" b="1" dirty="0"/>
              <a:t>Marketing cost</a:t>
            </a:r>
          </a:p>
          <a:p>
            <a:pPr marL="742950" lvl="1" indent="-285750">
              <a:buClr>
                <a:schemeClr val="tx1"/>
              </a:buClr>
              <a:buFont typeface="Arial" panose="020B0604020202020204" pitchFamily="34" charset="0"/>
              <a:buChar char="•"/>
            </a:pPr>
            <a:r>
              <a:rPr lang="en-US" b="1" dirty="0"/>
              <a:t>Production cost</a:t>
            </a:r>
          </a:p>
          <a:p>
            <a:pPr marL="742950" lvl="1" indent="-285750">
              <a:buClr>
                <a:schemeClr val="tx1"/>
              </a:buClr>
              <a:buFont typeface="Arial" panose="020B0604020202020204" pitchFamily="34" charset="0"/>
              <a:buChar char="•"/>
            </a:pPr>
            <a:endParaRPr lang="en-US" b="1" dirty="0"/>
          </a:p>
          <a:p>
            <a:r>
              <a:rPr lang="en-US" dirty="0"/>
              <a:t>Then decides whether to </a:t>
            </a:r>
            <a:r>
              <a:rPr lang="en-US" b="1" dirty="0"/>
              <a:t>proceed, delay, or cancel</a:t>
            </a:r>
            <a:r>
              <a:rPr lang="en-US" dirty="0"/>
              <a:t> the product launch.</a:t>
            </a:r>
          </a:p>
          <a:p>
            <a:endParaRPr lang="en-US" dirty="0"/>
          </a:p>
          <a:p>
            <a:r>
              <a:rPr lang="en-US" dirty="0"/>
              <a:t>Helps in </a:t>
            </a:r>
            <a:r>
              <a:rPr lang="en-US" b="1" dirty="0"/>
              <a:t>strategic decision-making</a:t>
            </a:r>
            <a:r>
              <a:rPr lang="en-US" dirty="0"/>
              <a:t>.</a:t>
            </a:r>
          </a:p>
          <a:p>
            <a:endParaRPr lang="en-IN" dirty="0"/>
          </a:p>
        </p:txBody>
      </p:sp>
    </p:spTree>
    <p:extLst>
      <p:ext uri="{BB962C8B-B14F-4D97-AF65-F5344CB8AC3E}">
        <p14:creationId xmlns:p14="http://schemas.microsoft.com/office/powerpoint/2010/main" val="37430287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6BB63-06DD-220A-BE50-C57FCB37EC26}"/>
              </a:ext>
            </a:extLst>
          </p:cNvPr>
          <p:cNvSpPr>
            <a:spLocks noGrp="1"/>
          </p:cNvSpPr>
          <p:nvPr>
            <p:ph type="title"/>
          </p:nvPr>
        </p:nvSpPr>
        <p:spPr/>
        <p:txBody>
          <a:bodyPr/>
          <a:lstStyle/>
          <a:p>
            <a:r>
              <a:rPr lang="en-IN" dirty="0"/>
              <a:t>What is Data Governance?</a:t>
            </a:r>
          </a:p>
        </p:txBody>
      </p:sp>
      <p:sp>
        <p:nvSpPr>
          <p:cNvPr id="3" name="TextBox 2">
            <a:extLst>
              <a:ext uri="{FF2B5EF4-FFF2-40B4-BE49-F238E27FC236}">
                <a16:creationId xmlns:a16="http://schemas.microsoft.com/office/drawing/2014/main" id="{EF341586-E0DF-CD94-C1DC-0E15EE5C8C8B}"/>
              </a:ext>
            </a:extLst>
          </p:cNvPr>
          <p:cNvSpPr txBox="1"/>
          <p:nvPr/>
        </p:nvSpPr>
        <p:spPr>
          <a:xfrm>
            <a:off x="1451578" y="2009349"/>
            <a:ext cx="9603275" cy="4247317"/>
          </a:xfrm>
          <a:prstGeom prst="rect">
            <a:avLst/>
          </a:prstGeom>
          <a:noFill/>
        </p:spPr>
        <p:txBody>
          <a:bodyPr wrap="square" rtlCol="0">
            <a:spAutoFit/>
          </a:bodyPr>
          <a:lstStyle/>
          <a:p>
            <a:r>
              <a:rPr lang="en-US" b="1" dirty="0"/>
              <a:t>Data governance</a:t>
            </a:r>
            <a:r>
              <a:rPr lang="en-US" dirty="0"/>
              <a:t> is the set of </a:t>
            </a:r>
            <a:r>
              <a:rPr lang="en-US" b="1" dirty="0"/>
              <a:t>policies, rules, roles, and processes</a:t>
            </a:r>
            <a:r>
              <a:rPr lang="en-US" dirty="0"/>
              <a:t> that an organization uses to ensure its data is </a:t>
            </a:r>
            <a:r>
              <a:rPr lang="en-US" b="1" dirty="0"/>
              <a:t>correct, secure, consistent, and used responsibly</a:t>
            </a:r>
            <a:r>
              <a:rPr lang="en-US" dirty="0"/>
              <a:t>.</a:t>
            </a:r>
          </a:p>
          <a:p>
            <a:endParaRPr lang="en-US" dirty="0"/>
          </a:p>
          <a:p>
            <a:r>
              <a:rPr lang="en-US" b="1" dirty="0"/>
              <a:t>Main Goals of Data Governance:</a:t>
            </a:r>
          </a:p>
          <a:p>
            <a:endParaRPr lang="en-US" b="1" dirty="0"/>
          </a:p>
          <a:p>
            <a:pPr marL="742950" lvl="1" indent="-285750">
              <a:buClr>
                <a:schemeClr val="tx1"/>
              </a:buClr>
              <a:buFont typeface="Arial" panose="020B0604020202020204" pitchFamily="34" charset="0"/>
              <a:buChar char="•"/>
            </a:pPr>
            <a:r>
              <a:rPr lang="en-IN" dirty="0"/>
              <a:t>Ensure data is </a:t>
            </a:r>
            <a:r>
              <a:rPr lang="en-IN" b="1" dirty="0"/>
              <a:t>accurate and consistent</a:t>
            </a:r>
          </a:p>
          <a:p>
            <a:pPr marL="742950" lvl="1" indent="-285750">
              <a:buClr>
                <a:schemeClr val="tx1"/>
              </a:buClr>
              <a:buFont typeface="Arial" panose="020B0604020202020204" pitchFamily="34" charset="0"/>
              <a:buChar char="•"/>
            </a:pPr>
            <a:endParaRPr lang="en-IN" dirty="0"/>
          </a:p>
          <a:p>
            <a:pPr marL="742950" lvl="1" indent="-285750">
              <a:buClr>
                <a:schemeClr val="tx1"/>
              </a:buClr>
              <a:buFont typeface="Arial" panose="020B0604020202020204" pitchFamily="34" charset="0"/>
              <a:buChar char="•"/>
            </a:pPr>
            <a:r>
              <a:rPr lang="en-IN" dirty="0"/>
              <a:t>Protect data from </a:t>
            </a:r>
            <a:r>
              <a:rPr lang="en-IN" b="1" dirty="0"/>
              <a:t>unauthorized access or misuse</a:t>
            </a:r>
          </a:p>
          <a:p>
            <a:pPr marL="742950" lvl="1" indent="-285750">
              <a:buClr>
                <a:schemeClr val="tx1"/>
              </a:buClr>
              <a:buFont typeface="Arial" panose="020B0604020202020204" pitchFamily="34" charset="0"/>
              <a:buChar char="•"/>
            </a:pPr>
            <a:endParaRPr lang="en-IN" dirty="0"/>
          </a:p>
          <a:p>
            <a:pPr marL="742950" lvl="1" indent="-285750">
              <a:buClr>
                <a:schemeClr val="tx1"/>
              </a:buClr>
              <a:buFont typeface="Arial" panose="020B0604020202020204" pitchFamily="34" charset="0"/>
              <a:buChar char="•"/>
            </a:pPr>
            <a:r>
              <a:rPr lang="en-IN" dirty="0"/>
              <a:t>Define </a:t>
            </a:r>
            <a:r>
              <a:rPr lang="en-IN" b="1" dirty="0"/>
              <a:t>who owns the data</a:t>
            </a:r>
            <a:r>
              <a:rPr lang="en-IN" dirty="0"/>
              <a:t> and </a:t>
            </a:r>
            <a:r>
              <a:rPr lang="en-IN" b="1" dirty="0"/>
              <a:t>who can do what</a:t>
            </a:r>
            <a:r>
              <a:rPr lang="en-IN" dirty="0"/>
              <a:t> (view, edit, delete)</a:t>
            </a:r>
          </a:p>
          <a:p>
            <a:pPr marL="742950" lvl="1" indent="-285750">
              <a:buClr>
                <a:schemeClr val="tx1"/>
              </a:buClr>
              <a:buFont typeface="Arial" panose="020B0604020202020204" pitchFamily="34" charset="0"/>
              <a:buChar char="•"/>
            </a:pPr>
            <a:endParaRPr lang="en-IN" dirty="0"/>
          </a:p>
          <a:p>
            <a:pPr marL="742950" lvl="1" indent="-285750">
              <a:buClr>
                <a:schemeClr val="tx1"/>
              </a:buClr>
              <a:buFont typeface="Arial" panose="020B0604020202020204" pitchFamily="34" charset="0"/>
              <a:buChar char="•"/>
            </a:pPr>
            <a:r>
              <a:rPr lang="en-IN" dirty="0"/>
              <a:t>Comply with </a:t>
            </a:r>
            <a:r>
              <a:rPr lang="en-IN" b="1" dirty="0"/>
              <a:t>laws and regulations</a:t>
            </a:r>
            <a:r>
              <a:rPr lang="en-IN" dirty="0"/>
              <a:t> (like privacy rules)</a:t>
            </a:r>
          </a:p>
          <a:p>
            <a:pPr marL="742950" lvl="1" indent="-285750">
              <a:buClr>
                <a:schemeClr val="tx1"/>
              </a:buClr>
              <a:buFont typeface="Arial" panose="020B0604020202020204" pitchFamily="34" charset="0"/>
              <a:buChar char="•"/>
            </a:pPr>
            <a:endParaRPr lang="en-IN" dirty="0"/>
          </a:p>
          <a:p>
            <a:pPr marL="742950" lvl="1" indent="-285750">
              <a:buClr>
                <a:schemeClr val="tx1"/>
              </a:buClr>
              <a:buFont typeface="Arial" panose="020B0604020202020204" pitchFamily="34" charset="0"/>
              <a:buChar char="•"/>
            </a:pPr>
            <a:r>
              <a:rPr lang="en-IN" dirty="0"/>
              <a:t>Make data </a:t>
            </a:r>
            <a:r>
              <a:rPr lang="en-IN" b="1" dirty="0"/>
              <a:t>trustworthy</a:t>
            </a:r>
            <a:r>
              <a:rPr lang="en-IN" dirty="0"/>
              <a:t> for reporting and decision-making</a:t>
            </a:r>
          </a:p>
          <a:p>
            <a:endParaRPr lang="en-IN" dirty="0"/>
          </a:p>
        </p:txBody>
      </p:sp>
    </p:spTree>
    <p:extLst>
      <p:ext uri="{BB962C8B-B14F-4D97-AF65-F5344CB8AC3E}">
        <p14:creationId xmlns:p14="http://schemas.microsoft.com/office/powerpoint/2010/main" val="25377827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48FFE-2E73-292C-0240-03A756501C44}"/>
              </a:ext>
            </a:extLst>
          </p:cNvPr>
          <p:cNvSpPr>
            <a:spLocks noGrp="1"/>
          </p:cNvSpPr>
          <p:nvPr>
            <p:ph type="title"/>
          </p:nvPr>
        </p:nvSpPr>
        <p:spPr/>
        <p:txBody>
          <a:bodyPr/>
          <a:lstStyle/>
          <a:p>
            <a:r>
              <a:rPr lang="en-IN" dirty="0"/>
              <a:t>Policies, Roles, and Responsibilities</a:t>
            </a:r>
          </a:p>
        </p:txBody>
      </p:sp>
      <p:sp>
        <p:nvSpPr>
          <p:cNvPr id="3" name="TextBox 2">
            <a:extLst>
              <a:ext uri="{FF2B5EF4-FFF2-40B4-BE49-F238E27FC236}">
                <a16:creationId xmlns:a16="http://schemas.microsoft.com/office/drawing/2014/main" id="{F35670C4-4DEB-71C7-E78F-48125DF889B1}"/>
              </a:ext>
            </a:extLst>
          </p:cNvPr>
          <p:cNvSpPr txBox="1"/>
          <p:nvPr/>
        </p:nvSpPr>
        <p:spPr>
          <a:xfrm>
            <a:off x="1724025" y="2619375"/>
            <a:ext cx="2368854" cy="2554545"/>
          </a:xfrm>
          <a:prstGeom prst="rect">
            <a:avLst/>
          </a:prstGeom>
          <a:noFill/>
        </p:spPr>
        <p:txBody>
          <a:bodyPr wrap="none" rtlCol="0">
            <a:spAutoFit/>
          </a:bodyPr>
          <a:lstStyle/>
          <a:p>
            <a:r>
              <a:rPr lang="en-US" sz="2400" b="1" dirty="0"/>
              <a:t>Policies:</a:t>
            </a:r>
          </a:p>
          <a:p>
            <a:endParaRPr lang="en-US" dirty="0"/>
          </a:p>
          <a:p>
            <a:pPr marL="285750" indent="-285750">
              <a:buFont typeface="Arial" panose="020B0604020202020204" pitchFamily="34" charset="0"/>
              <a:buChar char="•"/>
            </a:pPr>
            <a:r>
              <a:rPr lang="en-US" sz="2000" dirty="0"/>
              <a:t>Data access rules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Retention policies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Security standards</a:t>
            </a:r>
          </a:p>
          <a:p>
            <a:endParaRPr lang="en-IN" dirty="0"/>
          </a:p>
        </p:txBody>
      </p:sp>
      <p:sp>
        <p:nvSpPr>
          <p:cNvPr id="4" name="TextBox 3">
            <a:extLst>
              <a:ext uri="{FF2B5EF4-FFF2-40B4-BE49-F238E27FC236}">
                <a16:creationId xmlns:a16="http://schemas.microsoft.com/office/drawing/2014/main" id="{DCB07333-43C4-EB86-9826-11EB115A00BC}"/>
              </a:ext>
            </a:extLst>
          </p:cNvPr>
          <p:cNvSpPr txBox="1"/>
          <p:nvPr/>
        </p:nvSpPr>
        <p:spPr>
          <a:xfrm>
            <a:off x="5781675" y="2619375"/>
            <a:ext cx="2156360" cy="3262432"/>
          </a:xfrm>
          <a:prstGeom prst="rect">
            <a:avLst/>
          </a:prstGeom>
          <a:noFill/>
        </p:spPr>
        <p:txBody>
          <a:bodyPr wrap="none" rtlCol="0">
            <a:spAutoFit/>
          </a:bodyPr>
          <a:lstStyle/>
          <a:p>
            <a:r>
              <a:rPr lang="en-US" sz="2400" b="1" dirty="0"/>
              <a:t>Roles:</a:t>
            </a:r>
          </a:p>
          <a:p>
            <a:endParaRPr lang="en-US" sz="2400" dirty="0"/>
          </a:p>
          <a:p>
            <a:pPr marL="342900" indent="-342900">
              <a:buFont typeface="Arial" panose="020B0604020202020204" pitchFamily="34" charset="0"/>
              <a:buChar char="•"/>
            </a:pPr>
            <a:r>
              <a:rPr lang="en-US" sz="2000" dirty="0"/>
              <a:t>Data Owner</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Data Steward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Data Custodian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IT Team</a:t>
            </a:r>
          </a:p>
          <a:p>
            <a:endParaRPr lang="en-IN" dirty="0"/>
          </a:p>
        </p:txBody>
      </p:sp>
    </p:spTree>
    <p:extLst>
      <p:ext uri="{BB962C8B-B14F-4D97-AF65-F5344CB8AC3E}">
        <p14:creationId xmlns:p14="http://schemas.microsoft.com/office/powerpoint/2010/main" val="14084764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E86CE-6B7C-7ED1-E142-325DF4E43D8A}"/>
              </a:ext>
            </a:extLst>
          </p:cNvPr>
          <p:cNvSpPr>
            <a:spLocks noGrp="1"/>
          </p:cNvSpPr>
          <p:nvPr>
            <p:ph type="title"/>
          </p:nvPr>
        </p:nvSpPr>
        <p:spPr/>
        <p:txBody>
          <a:bodyPr/>
          <a:lstStyle/>
          <a:p>
            <a:r>
              <a:rPr lang="en-IN" dirty="0"/>
              <a:t>Principles of Data Ethics</a:t>
            </a:r>
          </a:p>
        </p:txBody>
      </p:sp>
      <p:sp>
        <p:nvSpPr>
          <p:cNvPr id="3" name="TextBox 2">
            <a:extLst>
              <a:ext uri="{FF2B5EF4-FFF2-40B4-BE49-F238E27FC236}">
                <a16:creationId xmlns:a16="http://schemas.microsoft.com/office/drawing/2014/main" id="{3007317D-981B-C757-48A4-7B0CD20FE81F}"/>
              </a:ext>
            </a:extLst>
          </p:cNvPr>
          <p:cNvSpPr txBox="1"/>
          <p:nvPr/>
        </p:nvSpPr>
        <p:spPr>
          <a:xfrm>
            <a:off x="1451579" y="2360162"/>
            <a:ext cx="5457825" cy="3693319"/>
          </a:xfrm>
          <a:prstGeom prst="rect">
            <a:avLst/>
          </a:prstGeom>
          <a:noFill/>
        </p:spPr>
        <p:txBody>
          <a:bodyPr wrap="square" rtlCol="0">
            <a:spAutoFit/>
          </a:bodyPr>
          <a:lstStyle/>
          <a:p>
            <a:r>
              <a:rPr lang="en-US" b="1" dirty="0"/>
              <a:t>Privacy and Confidentiality</a:t>
            </a:r>
          </a:p>
          <a:p>
            <a:endParaRPr lang="en-US" dirty="0"/>
          </a:p>
          <a:p>
            <a:pPr marL="742950" lvl="1" indent="-285750">
              <a:buFont typeface="Arial" panose="020B0604020202020204" pitchFamily="34" charset="0"/>
              <a:buChar char="•"/>
            </a:pPr>
            <a:r>
              <a:rPr lang="en-US" dirty="0"/>
              <a:t>Protect personal data</a:t>
            </a:r>
          </a:p>
          <a:p>
            <a:pPr marL="742950" lvl="1" indent="-285750">
              <a:buFont typeface="Arial" panose="020B0604020202020204" pitchFamily="34" charset="0"/>
              <a:buChar char="•"/>
            </a:pPr>
            <a:r>
              <a:rPr lang="en-US" dirty="0"/>
              <a:t>Limit unauthorized access</a:t>
            </a:r>
          </a:p>
          <a:p>
            <a:pPr marL="742950" lvl="1" indent="-285750">
              <a:buFont typeface="Arial" panose="020B0604020202020204" pitchFamily="34" charset="0"/>
              <a:buChar char="•"/>
            </a:pPr>
            <a:endParaRPr lang="en-US" dirty="0"/>
          </a:p>
          <a:p>
            <a:r>
              <a:rPr lang="en-US" b="1" dirty="0"/>
              <a:t>Transparency</a:t>
            </a:r>
          </a:p>
          <a:p>
            <a:endParaRPr lang="en-US" dirty="0"/>
          </a:p>
          <a:p>
            <a:pPr marL="742950" lvl="1" indent="-285750">
              <a:buFont typeface="Arial" panose="020B0604020202020204" pitchFamily="34" charset="0"/>
              <a:buChar char="•"/>
            </a:pPr>
            <a:r>
              <a:rPr lang="en-US" dirty="0"/>
              <a:t>Clear data usage policies</a:t>
            </a:r>
          </a:p>
          <a:p>
            <a:pPr marL="742950" lvl="1" indent="-285750">
              <a:buFont typeface="Arial" panose="020B0604020202020204" pitchFamily="34" charset="0"/>
              <a:buChar char="•"/>
            </a:pPr>
            <a:endParaRPr lang="en-US" dirty="0"/>
          </a:p>
          <a:p>
            <a:r>
              <a:rPr lang="en-US" b="1" dirty="0"/>
              <a:t>Accountability</a:t>
            </a:r>
          </a:p>
          <a:p>
            <a:endParaRPr lang="en-US" dirty="0"/>
          </a:p>
          <a:p>
            <a:pPr marL="742950" lvl="1" indent="-285750">
              <a:buFont typeface="Arial" panose="020B0604020202020204" pitchFamily="34" charset="0"/>
              <a:buChar char="•"/>
            </a:pPr>
            <a:r>
              <a:rPr lang="en-US" dirty="0"/>
              <a:t>Responsibility for misuse</a:t>
            </a:r>
          </a:p>
          <a:p>
            <a:endParaRPr lang="en-IN" dirty="0"/>
          </a:p>
        </p:txBody>
      </p:sp>
    </p:spTree>
    <p:extLst>
      <p:ext uri="{BB962C8B-B14F-4D97-AF65-F5344CB8AC3E}">
        <p14:creationId xmlns:p14="http://schemas.microsoft.com/office/powerpoint/2010/main" val="26053226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FC65C-01BF-3EB3-233F-E8A928161E11}"/>
              </a:ext>
            </a:extLst>
          </p:cNvPr>
          <p:cNvSpPr>
            <a:spLocks noGrp="1"/>
          </p:cNvSpPr>
          <p:nvPr>
            <p:ph type="title"/>
          </p:nvPr>
        </p:nvSpPr>
        <p:spPr/>
        <p:txBody>
          <a:bodyPr/>
          <a:lstStyle/>
          <a:p>
            <a:r>
              <a:rPr lang="en-IN" dirty="0"/>
              <a:t>Regulatory Compliance</a:t>
            </a:r>
          </a:p>
        </p:txBody>
      </p:sp>
      <p:sp>
        <p:nvSpPr>
          <p:cNvPr id="3" name="TextBox 2">
            <a:extLst>
              <a:ext uri="{FF2B5EF4-FFF2-40B4-BE49-F238E27FC236}">
                <a16:creationId xmlns:a16="http://schemas.microsoft.com/office/drawing/2014/main" id="{527E416B-95D0-7499-86D7-FD09FB6D2629}"/>
              </a:ext>
            </a:extLst>
          </p:cNvPr>
          <p:cNvSpPr txBox="1"/>
          <p:nvPr/>
        </p:nvSpPr>
        <p:spPr>
          <a:xfrm>
            <a:off x="1571625" y="2505075"/>
            <a:ext cx="4292201" cy="3139321"/>
          </a:xfrm>
          <a:prstGeom prst="rect">
            <a:avLst/>
          </a:prstGeom>
          <a:noFill/>
        </p:spPr>
        <p:txBody>
          <a:bodyPr wrap="none" rtlCol="0">
            <a:spAutoFit/>
          </a:bodyPr>
          <a:lstStyle/>
          <a:p>
            <a:r>
              <a:rPr lang="en-US" dirty="0"/>
              <a:t>Major Regulations:</a:t>
            </a:r>
          </a:p>
          <a:p>
            <a:endParaRPr lang="en-US" dirty="0"/>
          </a:p>
          <a:p>
            <a:pPr marL="742950" lvl="1" indent="-285750">
              <a:buFont typeface="Arial" panose="020B0604020202020204" pitchFamily="34" charset="0"/>
              <a:buChar char="•"/>
            </a:pPr>
            <a:r>
              <a:rPr lang="en-US" dirty="0"/>
              <a:t>General Data Protection Regulation</a:t>
            </a:r>
          </a:p>
          <a:p>
            <a:pPr marL="742950" lvl="1" indent="-285750">
              <a:buFont typeface="Arial" panose="020B0604020202020204" pitchFamily="34" charset="0"/>
              <a:buChar char="•"/>
            </a:pPr>
            <a:r>
              <a:rPr lang="en-US" dirty="0"/>
              <a:t>California Consumer Privacy Act</a:t>
            </a:r>
          </a:p>
          <a:p>
            <a:pPr marL="285750" indent="-285750">
              <a:buFont typeface="Arial" panose="020B0604020202020204" pitchFamily="34" charset="0"/>
              <a:buChar char="•"/>
            </a:pPr>
            <a:endParaRPr lang="en-US" dirty="0"/>
          </a:p>
          <a:p>
            <a:r>
              <a:rPr lang="en-US" dirty="0"/>
              <a:t>These laws ensure:</a:t>
            </a:r>
          </a:p>
          <a:p>
            <a:endParaRPr lang="en-US" dirty="0"/>
          </a:p>
          <a:p>
            <a:pPr marL="742950" lvl="1" indent="-285750">
              <a:buFont typeface="Arial" panose="020B0604020202020204" pitchFamily="34" charset="0"/>
              <a:buChar char="•"/>
            </a:pPr>
            <a:r>
              <a:rPr lang="en-US" dirty="0"/>
              <a:t>Data protection</a:t>
            </a:r>
          </a:p>
          <a:p>
            <a:pPr marL="742950" lvl="1" indent="-285750">
              <a:buFont typeface="Arial" panose="020B0604020202020204" pitchFamily="34" charset="0"/>
              <a:buChar char="•"/>
            </a:pPr>
            <a:r>
              <a:rPr lang="en-US" dirty="0"/>
              <a:t>User consent</a:t>
            </a:r>
          </a:p>
          <a:p>
            <a:pPr marL="742950" lvl="1" indent="-285750">
              <a:buFont typeface="Arial" panose="020B0604020202020204" pitchFamily="34" charset="0"/>
              <a:buChar char="•"/>
            </a:pPr>
            <a:r>
              <a:rPr lang="en-US" dirty="0"/>
              <a:t>Right to access and delete data</a:t>
            </a:r>
          </a:p>
          <a:p>
            <a:endParaRPr lang="en-IN" dirty="0"/>
          </a:p>
        </p:txBody>
      </p:sp>
    </p:spTree>
    <p:extLst>
      <p:ext uri="{BB962C8B-B14F-4D97-AF65-F5344CB8AC3E}">
        <p14:creationId xmlns:p14="http://schemas.microsoft.com/office/powerpoint/2010/main" val="31170655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8F04B-6E08-963B-C711-7663CB64FB8D}"/>
              </a:ext>
            </a:extLst>
          </p:cNvPr>
          <p:cNvSpPr>
            <a:spLocks noGrp="1"/>
          </p:cNvSpPr>
          <p:nvPr>
            <p:ph type="title"/>
          </p:nvPr>
        </p:nvSpPr>
        <p:spPr/>
        <p:txBody>
          <a:bodyPr/>
          <a:lstStyle/>
          <a:p>
            <a:r>
              <a:rPr lang="en-US" dirty="0"/>
              <a:t>Building a Culture of Responsible Data Use</a:t>
            </a:r>
            <a:endParaRPr lang="en-IN" dirty="0"/>
          </a:p>
        </p:txBody>
      </p:sp>
      <p:sp>
        <p:nvSpPr>
          <p:cNvPr id="3" name="TextBox 2">
            <a:extLst>
              <a:ext uri="{FF2B5EF4-FFF2-40B4-BE49-F238E27FC236}">
                <a16:creationId xmlns:a16="http://schemas.microsoft.com/office/drawing/2014/main" id="{A339289E-688B-ACF1-209B-76687D55E43B}"/>
              </a:ext>
            </a:extLst>
          </p:cNvPr>
          <p:cNvSpPr txBox="1"/>
          <p:nvPr/>
        </p:nvSpPr>
        <p:spPr>
          <a:xfrm>
            <a:off x="1451579" y="2362200"/>
            <a:ext cx="2959143" cy="3170099"/>
          </a:xfrm>
          <a:prstGeom prst="rect">
            <a:avLst/>
          </a:prstGeom>
          <a:noFill/>
        </p:spPr>
        <p:txBody>
          <a:bodyPr wrap="none" rtlCol="0">
            <a:spAutoFit/>
          </a:bodyPr>
          <a:lstStyle/>
          <a:p>
            <a:pPr marL="285750" indent="-285750">
              <a:buFont typeface="Arial" panose="020B0604020202020204" pitchFamily="34" charset="0"/>
              <a:buChar char="•"/>
            </a:pPr>
            <a:r>
              <a:rPr lang="en-US" sz="2000" dirty="0"/>
              <a:t>Training employees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Clear policies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Ethical leadership</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Continuous monitoring</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Promoting transparency</a:t>
            </a:r>
          </a:p>
          <a:p>
            <a:pPr marL="285750" indent="-285750">
              <a:buFont typeface="Arial" panose="020B0604020202020204" pitchFamily="34" charset="0"/>
              <a:buChar char="•"/>
            </a:pPr>
            <a:endParaRPr lang="en-IN" sz="2000" dirty="0"/>
          </a:p>
        </p:txBody>
      </p:sp>
    </p:spTree>
    <p:extLst>
      <p:ext uri="{BB962C8B-B14F-4D97-AF65-F5344CB8AC3E}">
        <p14:creationId xmlns:p14="http://schemas.microsoft.com/office/powerpoint/2010/main" val="21365128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93675D-3769-CA84-B378-CF7F3108E139}"/>
              </a:ext>
            </a:extLst>
          </p:cNvPr>
          <p:cNvSpPr/>
          <p:nvPr/>
        </p:nvSpPr>
        <p:spPr>
          <a:xfrm>
            <a:off x="2962536" y="2595859"/>
            <a:ext cx="5914764" cy="1200329"/>
          </a:xfrm>
          <a:prstGeom prst="rect">
            <a:avLst/>
          </a:prstGeom>
          <a:noFill/>
        </p:spPr>
        <p:txBody>
          <a:bodyPr wrap="square" lIns="91440" tIns="45720" rIns="91440" bIns="45720">
            <a:spAutoFit/>
          </a:bodyPr>
          <a:lstStyle/>
          <a:p>
            <a:pPr algn="ctr"/>
            <a:r>
              <a:rPr lang="en-US" sz="7200" i="1" dirty="0">
                <a:ln w="0"/>
                <a:gradFill>
                  <a:gsLst>
                    <a:gs pos="21000">
                      <a:srgbClr val="53575C"/>
                    </a:gs>
                    <a:gs pos="88000">
                      <a:srgbClr val="C5C7CA"/>
                    </a:gs>
                  </a:gsLst>
                  <a:lin ang="5400000"/>
                </a:gradFill>
              </a:rPr>
              <a:t>THANK  YOU</a:t>
            </a:r>
          </a:p>
        </p:txBody>
      </p:sp>
    </p:spTree>
    <p:extLst>
      <p:ext uri="{BB962C8B-B14F-4D97-AF65-F5344CB8AC3E}">
        <p14:creationId xmlns:p14="http://schemas.microsoft.com/office/powerpoint/2010/main" val="326517447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1821</TotalTime>
  <Words>2582</Words>
  <Application>Microsoft Office PowerPoint</Application>
  <PresentationFormat>Widescreen</PresentationFormat>
  <Paragraphs>544</Paragraphs>
  <Slides>43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Gill Sans MT</vt:lpstr>
      <vt:lpstr>Wingdings</vt:lpstr>
      <vt:lpstr>Gallery</vt:lpstr>
      <vt:lpstr>Information Technology </vt:lpstr>
      <vt:lpstr>Introduction to Information Technology  </vt:lpstr>
      <vt:lpstr>Fundamentals of Information Technology</vt:lpstr>
      <vt:lpstr>Role of IT in Business Operations </vt:lpstr>
      <vt:lpstr>Overview of Business Systems</vt:lpstr>
      <vt:lpstr>PowerPoint Presentation</vt:lpstr>
      <vt:lpstr>Interplay Between IT and Business Strategy</vt:lpstr>
      <vt:lpstr>PowerPoint Presentation</vt:lpstr>
      <vt:lpstr>How They Work Together (The Alignment Cycle)</vt:lpstr>
      <vt:lpstr>Different Data Types </vt:lpstr>
      <vt:lpstr>PowerPoint Presentation</vt:lpstr>
      <vt:lpstr>PowerPoint Presentation</vt:lpstr>
      <vt:lpstr>Common Data Sources</vt:lpstr>
      <vt:lpstr>PowerPoint Presentation</vt:lpstr>
      <vt:lpstr>PowerPoint Presentation</vt:lpstr>
      <vt:lpstr>PowerPoint Presentation</vt:lpstr>
      <vt:lpstr>Data Collection Methods</vt:lpstr>
      <vt:lpstr>Types of Data Collection (Based on Source)</vt:lpstr>
      <vt:lpstr>Data Lifecycle Management</vt:lpstr>
      <vt:lpstr>Data Quality and Integrity</vt:lpstr>
      <vt:lpstr>Definition of Business Analyst</vt:lpstr>
      <vt:lpstr>Key Skills for Business Analysts</vt:lpstr>
      <vt:lpstr>Business Analysis Methodologies</vt:lpstr>
      <vt:lpstr>PowerPoint Presentation</vt:lpstr>
      <vt:lpstr>PowerPoint Presentation</vt:lpstr>
      <vt:lpstr>PowerPoint Presentation</vt:lpstr>
      <vt:lpstr>Stakeholder Management</vt:lpstr>
      <vt:lpstr>Raw Data vs Processed Information</vt:lpstr>
      <vt:lpstr>The Transformation Process: Data to Information to Knowledge</vt:lpstr>
      <vt:lpstr>Value of Information in Decision Making</vt:lpstr>
      <vt:lpstr>Principles of Data-Driven Decision Making</vt:lpstr>
      <vt:lpstr>Benefits of Using Data FOR DECISIONS</vt:lpstr>
      <vt:lpstr>Steps in Data-Driven Decision Process</vt:lpstr>
      <vt:lpstr>Challenges and Pitfalls IN DATA-DRIVEN APPROACHES</vt:lpstr>
      <vt:lpstr>What Is Scenario Analysis?</vt:lpstr>
      <vt:lpstr>PowerPoint Presentation</vt:lpstr>
      <vt:lpstr>PowerPoint Presentation</vt:lpstr>
      <vt:lpstr>What is Data Governance?</vt:lpstr>
      <vt:lpstr>Policies, Roles, and Responsibilities</vt:lpstr>
      <vt:lpstr>Principles of Data Ethics</vt:lpstr>
      <vt:lpstr>Regulatory Compliance</vt:lpstr>
      <vt:lpstr>Building a Culture of Responsible Data Use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ANNASHYA KUNDU</dc:creator>
  <cp:lastModifiedBy>ANNASHYA KUNDU</cp:lastModifiedBy>
  <cp:revision>5</cp:revision>
  <dcterms:created xsi:type="dcterms:W3CDTF">2026-02-19T07:55:33Z</dcterms:created>
  <dcterms:modified xsi:type="dcterms:W3CDTF">2026-02-20T14:17:26Z</dcterms:modified>
</cp:coreProperties>
</file>